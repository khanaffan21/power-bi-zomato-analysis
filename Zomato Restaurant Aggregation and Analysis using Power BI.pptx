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20"/>
  </p:notesMasterIdLst>
  <p:sldIdLst>
    <p:sldId id="256" r:id="rId3"/>
    <p:sldId id="571" r:id="rId4"/>
    <p:sldId id="572" r:id="rId5"/>
    <p:sldId id="573" r:id="rId6"/>
    <p:sldId id="580" r:id="rId7"/>
    <p:sldId id="574" r:id="rId8"/>
    <p:sldId id="581" r:id="rId9"/>
    <p:sldId id="575" r:id="rId10"/>
    <p:sldId id="582" r:id="rId11"/>
    <p:sldId id="576" r:id="rId12"/>
    <p:sldId id="583" r:id="rId13"/>
    <p:sldId id="584" r:id="rId14"/>
    <p:sldId id="585" r:id="rId15"/>
    <p:sldId id="577" r:id="rId16"/>
    <p:sldId id="579" r:id="rId17"/>
    <p:sldId id="578" r:id="rId18"/>
    <p:sldId id="536" r:id="rId19"/>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714385-E8B8-46AB-8124-43D0987D6ADD}" v="37" dt="2026-03-12T20:30:00.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76" d="100"/>
          <a:sy n="76" d="100"/>
        </p:scale>
        <p:origin x="134" y="197"/>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n Affan" userId="0cdef2f8e972d0f3" providerId="LiveId" clId="{32DEC8FB-E4FE-48DE-8AD8-5F9E66C9F261}"/>
    <pc:docChg chg="undo redo custSel addSld delSld modSld">
      <pc:chgData name="Khan Affan" userId="0cdef2f8e972d0f3" providerId="LiveId" clId="{32DEC8FB-E4FE-48DE-8AD8-5F9E66C9F261}" dt="2026-03-12T20:15:56.608" v="698" actId="20577"/>
      <pc:docMkLst>
        <pc:docMk/>
      </pc:docMkLst>
      <pc:sldChg chg="modSp mod">
        <pc:chgData name="Khan Affan" userId="0cdef2f8e972d0f3" providerId="LiveId" clId="{32DEC8FB-E4FE-48DE-8AD8-5F9E66C9F261}" dt="2026-03-12T18:48:55.075" v="291" actId="20577"/>
        <pc:sldMkLst>
          <pc:docMk/>
          <pc:sldMk cId="2310333463" sldId="256"/>
        </pc:sldMkLst>
        <pc:spChg chg="mod">
          <ac:chgData name="Khan Affan" userId="0cdef2f8e972d0f3" providerId="LiveId" clId="{32DEC8FB-E4FE-48DE-8AD8-5F9E66C9F261}" dt="2026-03-12T18:47:19.380" v="131" actId="688"/>
          <ac:spMkLst>
            <pc:docMk/>
            <pc:sldMk cId="2310333463" sldId="256"/>
            <ac:spMk id="3" creationId="{0F837936-4230-3A98-A2A1-6E77E027B36D}"/>
          </ac:spMkLst>
        </pc:spChg>
        <pc:spChg chg="mod">
          <ac:chgData name="Khan Affan" userId="0cdef2f8e972d0f3" providerId="LiveId" clId="{32DEC8FB-E4FE-48DE-8AD8-5F9E66C9F261}" dt="2026-03-12T18:48:55.075" v="291" actId="20577"/>
          <ac:spMkLst>
            <pc:docMk/>
            <pc:sldMk cId="2310333463" sldId="256"/>
            <ac:spMk id="5" creationId="{3A663A0C-3931-F8E6-391C-2FF1FDBB09CD}"/>
          </ac:spMkLst>
        </pc:spChg>
      </pc:sldChg>
      <pc:sldChg chg="modSp mod">
        <pc:chgData name="Khan Affan" userId="0cdef2f8e972d0f3" providerId="LiveId" clId="{32DEC8FB-E4FE-48DE-8AD8-5F9E66C9F261}" dt="2026-03-12T18:56:47.886" v="324" actId="27636"/>
        <pc:sldMkLst>
          <pc:docMk/>
          <pc:sldMk cId="3372914246" sldId="572"/>
        </pc:sldMkLst>
        <pc:spChg chg="mod">
          <ac:chgData name="Khan Affan" userId="0cdef2f8e972d0f3" providerId="LiveId" clId="{32DEC8FB-E4FE-48DE-8AD8-5F9E66C9F261}" dt="2026-03-12T18:56:47.886" v="324" actId="27636"/>
          <ac:spMkLst>
            <pc:docMk/>
            <pc:sldMk cId="3372914246" sldId="572"/>
            <ac:spMk id="3" creationId="{28E8C97F-5AC9-F1CA-3CCC-090D5B13989A}"/>
          </ac:spMkLst>
        </pc:spChg>
      </pc:sldChg>
      <pc:sldChg chg="modSp mod">
        <pc:chgData name="Khan Affan" userId="0cdef2f8e972d0f3" providerId="LiveId" clId="{32DEC8FB-E4FE-48DE-8AD8-5F9E66C9F261}" dt="2026-03-12T19:07:17.163" v="368" actId="2711"/>
        <pc:sldMkLst>
          <pc:docMk/>
          <pc:sldMk cId="204139634" sldId="573"/>
        </pc:sldMkLst>
        <pc:spChg chg="mod">
          <ac:chgData name="Khan Affan" userId="0cdef2f8e972d0f3" providerId="LiveId" clId="{32DEC8FB-E4FE-48DE-8AD8-5F9E66C9F261}" dt="2026-03-12T19:07:17.163" v="368" actId="2711"/>
          <ac:spMkLst>
            <pc:docMk/>
            <pc:sldMk cId="204139634" sldId="573"/>
            <ac:spMk id="3" creationId="{AF67202D-4065-DDD7-98F1-4291C536D1A3}"/>
          </ac:spMkLst>
        </pc:spChg>
      </pc:sldChg>
      <pc:sldChg chg="modSp mod">
        <pc:chgData name="Khan Affan" userId="0cdef2f8e972d0f3" providerId="LiveId" clId="{32DEC8FB-E4FE-48DE-8AD8-5F9E66C9F261}" dt="2026-03-12T19:11:25.037" v="389" actId="255"/>
        <pc:sldMkLst>
          <pc:docMk/>
          <pc:sldMk cId="3501125123" sldId="574"/>
        </pc:sldMkLst>
        <pc:spChg chg="mod">
          <ac:chgData name="Khan Affan" userId="0cdef2f8e972d0f3" providerId="LiveId" clId="{32DEC8FB-E4FE-48DE-8AD8-5F9E66C9F261}" dt="2026-03-12T19:11:25.037" v="389" actId="255"/>
          <ac:spMkLst>
            <pc:docMk/>
            <pc:sldMk cId="3501125123" sldId="574"/>
            <ac:spMk id="3" creationId="{FE07E8EE-7F26-D809-3523-C58876935A4E}"/>
          </ac:spMkLst>
        </pc:spChg>
      </pc:sldChg>
      <pc:sldChg chg="modSp mod">
        <pc:chgData name="Khan Affan" userId="0cdef2f8e972d0f3" providerId="LiveId" clId="{32DEC8FB-E4FE-48DE-8AD8-5F9E66C9F261}" dt="2026-03-12T19:28:37.074" v="433" actId="20577"/>
        <pc:sldMkLst>
          <pc:docMk/>
          <pc:sldMk cId="1199084396" sldId="575"/>
        </pc:sldMkLst>
        <pc:spChg chg="mod">
          <ac:chgData name="Khan Affan" userId="0cdef2f8e972d0f3" providerId="LiveId" clId="{32DEC8FB-E4FE-48DE-8AD8-5F9E66C9F261}" dt="2026-03-12T19:28:37.074" v="433" actId="20577"/>
          <ac:spMkLst>
            <pc:docMk/>
            <pc:sldMk cId="1199084396" sldId="575"/>
            <ac:spMk id="3" creationId="{B5107410-DE3D-5F62-F9D7-11EAEA92F0BB}"/>
          </ac:spMkLst>
        </pc:spChg>
      </pc:sldChg>
      <pc:sldChg chg="addSp delSp modSp mod">
        <pc:chgData name="Khan Affan" userId="0cdef2f8e972d0f3" providerId="LiveId" clId="{32DEC8FB-E4FE-48DE-8AD8-5F9E66C9F261}" dt="2026-03-12T19:45:36.366" v="523" actId="14100"/>
        <pc:sldMkLst>
          <pc:docMk/>
          <pc:sldMk cId="58742533" sldId="576"/>
        </pc:sldMkLst>
        <pc:spChg chg="del mod">
          <ac:chgData name="Khan Affan" userId="0cdef2f8e972d0f3" providerId="LiveId" clId="{32DEC8FB-E4FE-48DE-8AD8-5F9E66C9F261}" dt="2026-03-12T19:38:59.858" v="467" actId="931"/>
          <ac:spMkLst>
            <pc:docMk/>
            <pc:sldMk cId="58742533" sldId="576"/>
            <ac:spMk id="3" creationId="{66102C9B-C4AF-D0DB-DE74-862D9812001C}"/>
          </ac:spMkLst>
        </pc:spChg>
        <pc:spChg chg="add mod">
          <ac:chgData name="Khan Affan" userId="0cdef2f8e972d0f3" providerId="LiveId" clId="{32DEC8FB-E4FE-48DE-8AD8-5F9E66C9F261}" dt="2026-03-12T19:44:15.700" v="514" actId="2711"/>
          <ac:spMkLst>
            <pc:docMk/>
            <pc:sldMk cId="58742533" sldId="576"/>
            <ac:spMk id="10" creationId="{3BF59661-538A-1BD7-5885-608B9C31C834}"/>
          </ac:spMkLst>
        </pc:spChg>
        <pc:picChg chg="add mod ord">
          <ac:chgData name="Khan Affan" userId="0cdef2f8e972d0f3" providerId="LiveId" clId="{32DEC8FB-E4FE-48DE-8AD8-5F9E66C9F261}" dt="2026-03-12T19:38:59.858" v="467" actId="931"/>
          <ac:picMkLst>
            <pc:docMk/>
            <pc:sldMk cId="58742533" sldId="576"/>
            <ac:picMk id="5" creationId="{194A2A36-9116-FE4F-EDC4-CFE7374BD51F}"/>
          </ac:picMkLst>
        </pc:picChg>
        <pc:picChg chg="add del">
          <ac:chgData name="Khan Affan" userId="0cdef2f8e972d0f3" providerId="LiveId" clId="{32DEC8FB-E4FE-48DE-8AD8-5F9E66C9F261}" dt="2026-03-12T19:39:25.194" v="469" actId="21"/>
          <ac:picMkLst>
            <pc:docMk/>
            <pc:sldMk cId="58742533" sldId="576"/>
            <ac:picMk id="7" creationId="{8CDF8242-5DEE-5F07-349A-EF4F31FC00FC}"/>
          </ac:picMkLst>
        </pc:picChg>
        <pc:picChg chg="add mod">
          <ac:chgData name="Khan Affan" userId="0cdef2f8e972d0f3" providerId="LiveId" clId="{32DEC8FB-E4FE-48DE-8AD8-5F9E66C9F261}" dt="2026-03-12T19:45:36.366" v="523" actId="14100"/>
          <ac:picMkLst>
            <pc:docMk/>
            <pc:sldMk cId="58742533" sldId="576"/>
            <ac:picMk id="9" creationId="{BBF1C056-25CE-0405-62AE-CDE9DDA04DB2}"/>
          </ac:picMkLst>
        </pc:picChg>
      </pc:sldChg>
      <pc:sldChg chg="modSp mod">
        <pc:chgData name="Khan Affan" userId="0cdef2f8e972d0f3" providerId="LiveId" clId="{32DEC8FB-E4FE-48DE-8AD8-5F9E66C9F261}" dt="2026-03-12T20:07:32.727" v="608" actId="1076"/>
        <pc:sldMkLst>
          <pc:docMk/>
          <pc:sldMk cId="2245309600" sldId="577"/>
        </pc:sldMkLst>
        <pc:spChg chg="mod">
          <ac:chgData name="Khan Affan" userId="0cdef2f8e972d0f3" providerId="LiveId" clId="{32DEC8FB-E4FE-48DE-8AD8-5F9E66C9F261}" dt="2026-03-12T20:07:32.727" v="608" actId="1076"/>
          <ac:spMkLst>
            <pc:docMk/>
            <pc:sldMk cId="2245309600" sldId="577"/>
            <ac:spMk id="3" creationId="{21789DDB-698E-B624-5621-F9D79482FFED}"/>
          </ac:spMkLst>
        </pc:spChg>
      </pc:sldChg>
      <pc:sldChg chg="modSp mod">
        <pc:chgData name="Khan Affan" userId="0cdef2f8e972d0f3" providerId="LiveId" clId="{32DEC8FB-E4FE-48DE-8AD8-5F9E66C9F261}" dt="2026-03-12T20:15:56.608" v="698" actId="20577"/>
        <pc:sldMkLst>
          <pc:docMk/>
          <pc:sldMk cId="1691700673" sldId="578"/>
        </pc:sldMkLst>
        <pc:spChg chg="mod">
          <ac:chgData name="Khan Affan" userId="0cdef2f8e972d0f3" providerId="LiveId" clId="{32DEC8FB-E4FE-48DE-8AD8-5F9E66C9F261}" dt="2026-03-12T20:15:56.608" v="698" actId="20577"/>
          <ac:spMkLst>
            <pc:docMk/>
            <pc:sldMk cId="1691700673" sldId="578"/>
            <ac:spMk id="3" creationId="{5E6198D1-2392-A218-1A4C-10F40FCB8253}"/>
          </ac:spMkLst>
        </pc:spChg>
      </pc:sldChg>
      <pc:sldChg chg="modSp mod">
        <pc:chgData name="Khan Affan" userId="0cdef2f8e972d0f3" providerId="LiveId" clId="{32DEC8FB-E4FE-48DE-8AD8-5F9E66C9F261}" dt="2026-03-12T20:11:09.545" v="624" actId="255"/>
        <pc:sldMkLst>
          <pc:docMk/>
          <pc:sldMk cId="3744199677" sldId="579"/>
        </pc:sldMkLst>
        <pc:spChg chg="mod">
          <ac:chgData name="Khan Affan" userId="0cdef2f8e972d0f3" providerId="LiveId" clId="{32DEC8FB-E4FE-48DE-8AD8-5F9E66C9F261}" dt="2026-03-12T20:11:09.545" v="624" actId="255"/>
          <ac:spMkLst>
            <pc:docMk/>
            <pc:sldMk cId="3744199677" sldId="579"/>
            <ac:spMk id="3" creationId="{3F2C79AB-5BF9-3911-CAE8-5E44B0DF2236}"/>
          </ac:spMkLst>
        </pc:spChg>
      </pc:sldChg>
      <pc:sldChg chg="addSp delSp modSp new mod modClrScheme chgLayout">
        <pc:chgData name="Khan Affan" userId="0cdef2f8e972d0f3" providerId="LiveId" clId="{32DEC8FB-E4FE-48DE-8AD8-5F9E66C9F261}" dt="2026-03-12T19:07:27.521" v="369" actId="2711"/>
        <pc:sldMkLst>
          <pc:docMk/>
          <pc:sldMk cId="1438126036" sldId="580"/>
        </pc:sldMkLst>
        <pc:spChg chg="del mod ord">
          <ac:chgData name="Khan Affan" userId="0cdef2f8e972d0f3" providerId="LiveId" clId="{32DEC8FB-E4FE-48DE-8AD8-5F9E66C9F261}" dt="2026-03-12T18:55:00.525" v="322" actId="700"/>
          <ac:spMkLst>
            <pc:docMk/>
            <pc:sldMk cId="1438126036" sldId="580"/>
            <ac:spMk id="2" creationId="{307CE1F5-B8D7-EF8F-0F61-3E743622E2CB}"/>
          </ac:spMkLst>
        </pc:spChg>
        <pc:spChg chg="del mod ord">
          <ac:chgData name="Khan Affan" userId="0cdef2f8e972d0f3" providerId="LiveId" clId="{32DEC8FB-E4FE-48DE-8AD8-5F9E66C9F261}" dt="2026-03-12T18:55:00.525" v="322" actId="700"/>
          <ac:spMkLst>
            <pc:docMk/>
            <pc:sldMk cId="1438126036" sldId="580"/>
            <ac:spMk id="3" creationId="{C2C8560B-30EC-5B8A-A9F9-E4A47504D106}"/>
          </ac:spMkLst>
        </pc:spChg>
        <pc:spChg chg="add del mod ord">
          <ac:chgData name="Khan Affan" userId="0cdef2f8e972d0f3" providerId="LiveId" clId="{32DEC8FB-E4FE-48DE-8AD8-5F9E66C9F261}" dt="2026-03-12T19:01:35.433" v="344" actId="21"/>
          <ac:spMkLst>
            <pc:docMk/>
            <pc:sldMk cId="1438126036" sldId="580"/>
            <ac:spMk id="4" creationId="{42FD3CB4-8C61-92B6-8378-B9183ED43900}"/>
          </ac:spMkLst>
        </pc:spChg>
        <pc:spChg chg="add mod ord">
          <ac:chgData name="Khan Affan" userId="0cdef2f8e972d0f3" providerId="LiveId" clId="{32DEC8FB-E4FE-48DE-8AD8-5F9E66C9F261}" dt="2026-03-12T19:07:27.521" v="369" actId="2711"/>
          <ac:spMkLst>
            <pc:docMk/>
            <pc:sldMk cId="1438126036" sldId="580"/>
            <ac:spMk id="5" creationId="{8C5C0B14-BE18-EFC7-066A-6A3CB47B8017}"/>
          </ac:spMkLst>
        </pc:spChg>
      </pc:sldChg>
      <pc:sldChg chg="addSp delSp modSp new mod modClrScheme chgLayout">
        <pc:chgData name="Khan Affan" userId="0cdef2f8e972d0f3" providerId="LiveId" clId="{32DEC8FB-E4FE-48DE-8AD8-5F9E66C9F261}" dt="2026-03-12T19:13:46.872" v="402" actId="12"/>
        <pc:sldMkLst>
          <pc:docMk/>
          <pc:sldMk cId="3789603410" sldId="581"/>
        </pc:sldMkLst>
        <pc:spChg chg="del mod ord">
          <ac:chgData name="Khan Affan" userId="0cdef2f8e972d0f3" providerId="LiveId" clId="{32DEC8FB-E4FE-48DE-8AD8-5F9E66C9F261}" dt="2026-03-12T19:09:40.826" v="371" actId="700"/>
          <ac:spMkLst>
            <pc:docMk/>
            <pc:sldMk cId="3789603410" sldId="581"/>
            <ac:spMk id="2" creationId="{78D32335-8DC8-1507-F16F-8B7FFC1D3B6C}"/>
          </ac:spMkLst>
        </pc:spChg>
        <pc:spChg chg="del mod ord">
          <ac:chgData name="Khan Affan" userId="0cdef2f8e972d0f3" providerId="LiveId" clId="{32DEC8FB-E4FE-48DE-8AD8-5F9E66C9F261}" dt="2026-03-12T19:09:40.826" v="371" actId="700"/>
          <ac:spMkLst>
            <pc:docMk/>
            <pc:sldMk cId="3789603410" sldId="581"/>
            <ac:spMk id="3" creationId="{09A588B1-6ED9-B534-CDE7-37CCD9A757BB}"/>
          </ac:spMkLst>
        </pc:spChg>
        <pc:spChg chg="add del mod ord">
          <ac:chgData name="Khan Affan" userId="0cdef2f8e972d0f3" providerId="LiveId" clId="{32DEC8FB-E4FE-48DE-8AD8-5F9E66C9F261}" dt="2026-03-12T19:09:46.194" v="372" actId="21"/>
          <ac:spMkLst>
            <pc:docMk/>
            <pc:sldMk cId="3789603410" sldId="581"/>
            <ac:spMk id="4" creationId="{82F52EC5-55B4-357E-47F2-D6F5D8098F09}"/>
          </ac:spMkLst>
        </pc:spChg>
        <pc:spChg chg="add mod ord">
          <ac:chgData name="Khan Affan" userId="0cdef2f8e972d0f3" providerId="LiveId" clId="{32DEC8FB-E4FE-48DE-8AD8-5F9E66C9F261}" dt="2026-03-12T19:13:46.872" v="402" actId="12"/>
          <ac:spMkLst>
            <pc:docMk/>
            <pc:sldMk cId="3789603410" sldId="581"/>
            <ac:spMk id="5" creationId="{FA628137-6780-EC9C-FB23-82E59A16A2EC}"/>
          </ac:spMkLst>
        </pc:spChg>
      </pc:sldChg>
      <pc:sldChg chg="addSp delSp modSp new mod modClrScheme chgLayout">
        <pc:chgData name="Khan Affan" userId="0cdef2f8e972d0f3" providerId="LiveId" clId="{32DEC8FB-E4FE-48DE-8AD8-5F9E66C9F261}" dt="2026-03-12T19:31:48.944" v="465" actId="12"/>
        <pc:sldMkLst>
          <pc:docMk/>
          <pc:sldMk cId="3418284550" sldId="582"/>
        </pc:sldMkLst>
        <pc:spChg chg="del mod ord">
          <ac:chgData name="Khan Affan" userId="0cdef2f8e972d0f3" providerId="LiveId" clId="{32DEC8FB-E4FE-48DE-8AD8-5F9E66C9F261}" dt="2026-03-12T19:29:17.952" v="435" actId="700"/>
          <ac:spMkLst>
            <pc:docMk/>
            <pc:sldMk cId="3418284550" sldId="582"/>
            <ac:spMk id="2" creationId="{A9ADAF2B-7D42-52BD-F3E6-A4E6DD7F5090}"/>
          </ac:spMkLst>
        </pc:spChg>
        <pc:spChg chg="del mod ord">
          <ac:chgData name="Khan Affan" userId="0cdef2f8e972d0f3" providerId="LiveId" clId="{32DEC8FB-E4FE-48DE-8AD8-5F9E66C9F261}" dt="2026-03-12T19:29:17.952" v="435" actId="700"/>
          <ac:spMkLst>
            <pc:docMk/>
            <pc:sldMk cId="3418284550" sldId="582"/>
            <ac:spMk id="3" creationId="{5EF62566-A483-96DD-4C04-3FE3A287E5D0}"/>
          </ac:spMkLst>
        </pc:spChg>
        <pc:spChg chg="add del mod ord">
          <ac:chgData name="Khan Affan" userId="0cdef2f8e972d0f3" providerId="LiveId" clId="{32DEC8FB-E4FE-48DE-8AD8-5F9E66C9F261}" dt="2026-03-12T19:29:22.360" v="436" actId="21"/>
          <ac:spMkLst>
            <pc:docMk/>
            <pc:sldMk cId="3418284550" sldId="582"/>
            <ac:spMk id="4" creationId="{88A6106D-AABE-3890-4FD9-FB2899AF0C06}"/>
          </ac:spMkLst>
        </pc:spChg>
        <pc:spChg chg="add del mod ord">
          <ac:chgData name="Khan Affan" userId="0cdef2f8e972d0f3" providerId="LiveId" clId="{32DEC8FB-E4FE-48DE-8AD8-5F9E66C9F261}" dt="2026-03-12T19:29:59.985" v="443"/>
          <ac:spMkLst>
            <pc:docMk/>
            <pc:sldMk cId="3418284550" sldId="582"/>
            <ac:spMk id="5" creationId="{EC0C5E5D-47BB-C4CC-B18F-A0C2BC875155}"/>
          </ac:spMkLst>
        </pc:spChg>
        <pc:spChg chg="add del mod">
          <ac:chgData name="Khan Affan" userId="0cdef2f8e972d0f3" providerId="LiveId" clId="{32DEC8FB-E4FE-48DE-8AD8-5F9E66C9F261}" dt="2026-03-12T19:30:01.690" v="444"/>
          <ac:spMkLst>
            <pc:docMk/>
            <pc:sldMk cId="3418284550" sldId="582"/>
            <ac:spMk id="6" creationId="{88A6106D-AABE-3890-4FD9-FB2899AF0C06}"/>
          </ac:spMkLst>
        </pc:spChg>
        <pc:spChg chg="add mod">
          <ac:chgData name="Khan Affan" userId="0cdef2f8e972d0f3" providerId="LiveId" clId="{32DEC8FB-E4FE-48DE-8AD8-5F9E66C9F261}" dt="2026-03-12T19:31:48.944" v="465" actId="12"/>
          <ac:spMkLst>
            <pc:docMk/>
            <pc:sldMk cId="3418284550" sldId="582"/>
            <ac:spMk id="7" creationId="{BD1C730B-5179-7057-7DFF-AE584B1AAA21}"/>
          </ac:spMkLst>
        </pc:spChg>
      </pc:sldChg>
      <pc:sldChg chg="new del">
        <pc:chgData name="Khan Affan" userId="0cdef2f8e972d0f3" providerId="LiveId" clId="{32DEC8FB-E4FE-48DE-8AD8-5F9E66C9F261}" dt="2026-03-12T19:41:05.955" v="480" actId="2696"/>
        <pc:sldMkLst>
          <pc:docMk/>
          <pc:sldMk cId="1664479111" sldId="583"/>
        </pc:sldMkLst>
      </pc:sldChg>
      <pc:sldChg chg="addSp delSp modSp new mod modClrScheme chgLayout">
        <pc:chgData name="Khan Affan" userId="0cdef2f8e972d0f3" providerId="LiveId" clId="{32DEC8FB-E4FE-48DE-8AD8-5F9E66C9F261}" dt="2026-03-12T20:00:27.363" v="559" actId="1076"/>
        <pc:sldMkLst>
          <pc:docMk/>
          <pc:sldMk cId="3632714272" sldId="583"/>
        </pc:sldMkLst>
        <pc:spChg chg="del mod ord">
          <ac:chgData name="Khan Affan" userId="0cdef2f8e972d0f3" providerId="LiveId" clId="{32DEC8FB-E4FE-48DE-8AD8-5F9E66C9F261}" dt="2026-03-12T19:44:39.693" v="516" actId="700"/>
          <ac:spMkLst>
            <pc:docMk/>
            <pc:sldMk cId="3632714272" sldId="583"/>
            <ac:spMk id="2" creationId="{A6B78318-A55B-BD27-8032-806804E32106}"/>
          </ac:spMkLst>
        </pc:spChg>
        <pc:spChg chg="del mod ord">
          <ac:chgData name="Khan Affan" userId="0cdef2f8e972d0f3" providerId="LiveId" clId="{32DEC8FB-E4FE-48DE-8AD8-5F9E66C9F261}" dt="2026-03-12T19:44:39.693" v="516" actId="700"/>
          <ac:spMkLst>
            <pc:docMk/>
            <pc:sldMk cId="3632714272" sldId="583"/>
            <ac:spMk id="3" creationId="{0592CC1D-495F-E80A-B519-0872567B6D27}"/>
          </ac:spMkLst>
        </pc:spChg>
        <pc:spChg chg="add del mod ord">
          <ac:chgData name="Khan Affan" userId="0cdef2f8e972d0f3" providerId="LiveId" clId="{32DEC8FB-E4FE-48DE-8AD8-5F9E66C9F261}" dt="2026-03-12T19:44:44.148" v="517" actId="21"/>
          <ac:spMkLst>
            <pc:docMk/>
            <pc:sldMk cId="3632714272" sldId="583"/>
            <ac:spMk id="4" creationId="{606A5DBB-1A95-6EEF-3D42-4D883F59F2BE}"/>
          </ac:spMkLst>
        </pc:spChg>
        <pc:spChg chg="add del mod ord">
          <ac:chgData name="Khan Affan" userId="0cdef2f8e972d0f3" providerId="LiveId" clId="{32DEC8FB-E4FE-48DE-8AD8-5F9E66C9F261}" dt="2026-03-12T19:44:54.763" v="518" actId="21"/>
          <ac:spMkLst>
            <pc:docMk/>
            <pc:sldMk cId="3632714272" sldId="583"/>
            <ac:spMk id="5" creationId="{F2A0855F-1AE0-5C29-A9A6-B278DF081EEE}"/>
          </ac:spMkLst>
        </pc:spChg>
        <pc:spChg chg="add del mod">
          <ac:chgData name="Khan Affan" userId="0cdef2f8e972d0f3" providerId="LiveId" clId="{32DEC8FB-E4FE-48DE-8AD8-5F9E66C9F261}" dt="2026-03-12T19:46:33.907" v="529"/>
          <ac:spMkLst>
            <pc:docMk/>
            <pc:sldMk cId="3632714272" sldId="583"/>
            <ac:spMk id="8" creationId="{517C0D3A-0D76-42BB-AD23-3D3E3906654A}"/>
          </ac:spMkLst>
        </pc:spChg>
        <pc:spChg chg="add mod">
          <ac:chgData name="Khan Affan" userId="0cdef2f8e972d0f3" providerId="LiveId" clId="{32DEC8FB-E4FE-48DE-8AD8-5F9E66C9F261}" dt="2026-03-12T20:00:27.363" v="559" actId="1076"/>
          <ac:spMkLst>
            <pc:docMk/>
            <pc:sldMk cId="3632714272" sldId="583"/>
            <ac:spMk id="9" creationId="{AF8EB80D-1186-1586-99A3-D91C4E3FCCA7}"/>
          </ac:spMkLst>
        </pc:spChg>
        <pc:spChg chg="add mod">
          <ac:chgData name="Khan Affan" userId="0cdef2f8e972d0f3" providerId="LiveId" clId="{32DEC8FB-E4FE-48DE-8AD8-5F9E66C9F261}" dt="2026-03-12T19:48:18.251" v="541" actId="2711"/>
          <ac:spMkLst>
            <pc:docMk/>
            <pc:sldMk cId="3632714272" sldId="583"/>
            <ac:spMk id="11" creationId="{D007F75D-3948-9418-E94E-7B08CEF05B58}"/>
          </ac:spMkLst>
        </pc:spChg>
        <pc:picChg chg="add mod">
          <ac:chgData name="Khan Affan" userId="0cdef2f8e972d0f3" providerId="LiveId" clId="{32DEC8FB-E4FE-48DE-8AD8-5F9E66C9F261}" dt="2026-03-12T19:46:01.089" v="526" actId="14100"/>
          <ac:picMkLst>
            <pc:docMk/>
            <pc:sldMk cId="3632714272" sldId="583"/>
            <ac:picMk id="7" creationId="{BC2D041A-EFB7-19E6-1CD7-749D86E89C77}"/>
          </ac:picMkLst>
        </pc:picChg>
      </pc:sldChg>
      <pc:sldChg chg="addSp delSp modSp new mod">
        <pc:chgData name="Khan Affan" userId="0cdef2f8e972d0f3" providerId="LiveId" clId="{32DEC8FB-E4FE-48DE-8AD8-5F9E66C9F261}" dt="2026-03-12T20:01:32.870" v="570" actId="2711"/>
        <pc:sldMkLst>
          <pc:docMk/>
          <pc:sldMk cId="868622685" sldId="584"/>
        </pc:sldMkLst>
        <pc:spChg chg="del">
          <ac:chgData name="Khan Affan" userId="0cdef2f8e972d0f3" providerId="LiveId" clId="{32DEC8FB-E4FE-48DE-8AD8-5F9E66C9F261}" dt="2026-03-12T19:52:04.657" v="544" actId="21"/>
          <ac:spMkLst>
            <pc:docMk/>
            <pc:sldMk cId="868622685" sldId="584"/>
            <ac:spMk id="2" creationId="{5023049D-594B-F68A-366F-077A1A0F226C}"/>
          </ac:spMkLst>
        </pc:spChg>
        <pc:spChg chg="del">
          <ac:chgData name="Khan Affan" userId="0cdef2f8e972d0f3" providerId="LiveId" clId="{32DEC8FB-E4FE-48DE-8AD8-5F9E66C9F261}" dt="2026-03-12T19:51:59.819" v="543" actId="21"/>
          <ac:spMkLst>
            <pc:docMk/>
            <pc:sldMk cId="868622685" sldId="584"/>
            <ac:spMk id="3" creationId="{AAF72C9B-5C88-3375-F0D1-74615113EE8F}"/>
          </ac:spMkLst>
        </pc:spChg>
        <pc:spChg chg="add mod">
          <ac:chgData name="Khan Affan" userId="0cdef2f8e972d0f3" providerId="LiveId" clId="{32DEC8FB-E4FE-48DE-8AD8-5F9E66C9F261}" dt="2026-03-12T20:01:20.041" v="569" actId="1076"/>
          <ac:spMkLst>
            <pc:docMk/>
            <pc:sldMk cId="868622685" sldId="584"/>
            <ac:spMk id="6" creationId="{0B4CC12C-8BE7-31CB-DBAE-818918069106}"/>
          </ac:spMkLst>
        </pc:spChg>
        <pc:spChg chg="add mod">
          <ac:chgData name="Khan Affan" userId="0cdef2f8e972d0f3" providerId="LiveId" clId="{32DEC8FB-E4FE-48DE-8AD8-5F9E66C9F261}" dt="2026-03-12T20:01:32.870" v="570" actId="2711"/>
          <ac:spMkLst>
            <pc:docMk/>
            <pc:sldMk cId="868622685" sldId="584"/>
            <ac:spMk id="8" creationId="{F3D80AE2-9EFB-EF91-9B23-C324F0E4C5AE}"/>
          </ac:spMkLst>
        </pc:spChg>
        <pc:picChg chg="add mod">
          <ac:chgData name="Khan Affan" userId="0cdef2f8e972d0f3" providerId="LiveId" clId="{32DEC8FB-E4FE-48DE-8AD8-5F9E66C9F261}" dt="2026-03-12T20:01:12.571" v="567" actId="1076"/>
          <ac:picMkLst>
            <pc:docMk/>
            <pc:sldMk cId="868622685" sldId="584"/>
            <ac:picMk id="5" creationId="{D98CC6A6-C35D-E400-7410-E3A235CCD929}"/>
          </ac:picMkLst>
        </pc:picChg>
      </pc:sldChg>
      <pc:sldChg chg="delSp modSp new mod">
        <pc:chgData name="Khan Affan" userId="0cdef2f8e972d0f3" providerId="LiveId" clId="{32DEC8FB-E4FE-48DE-8AD8-5F9E66C9F261}" dt="2026-03-12T20:04:28.471" v="588" actId="255"/>
        <pc:sldMkLst>
          <pc:docMk/>
          <pc:sldMk cId="2239959806" sldId="585"/>
        </pc:sldMkLst>
        <pc:spChg chg="del">
          <ac:chgData name="Khan Affan" userId="0cdef2f8e972d0f3" providerId="LiveId" clId="{32DEC8FB-E4FE-48DE-8AD8-5F9E66C9F261}" dt="2026-03-12T20:02:03.286" v="572" actId="21"/>
          <ac:spMkLst>
            <pc:docMk/>
            <pc:sldMk cId="2239959806" sldId="585"/>
            <ac:spMk id="2" creationId="{2679354C-4E5B-D3C9-AAA5-E22C224770A5}"/>
          </ac:spMkLst>
        </pc:spChg>
        <pc:spChg chg="mod">
          <ac:chgData name="Khan Affan" userId="0cdef2f8e972d0f3" providerId="LiveId" clId="{32DEC8FB-E4FE-48DE-8AD8-5F9E66C9F261}" dt="2026-03-12T20:04:28.471" v="588" actId="255"/>
          <ac:spMkLst>
            <pc:docMk/>
            <pc:sldMk cId="2239959806" sldId="585"/>
            <ac:spMk id="3" creationId="{C0AB6B65-20E8-8180-5A75-AC88BB9FEAF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17</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13-03-2026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3/13/2026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13/03/2026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khanaffan21/Power-BI-Zomato-Analysis" TargetMode="External"/><Relationship Id="rId2" Type="http://schemas.openxmlformats.org/officeDocument/2006/relationships/hyperlink" Target="https://app.powerbi.com/view?r=eyJrIjoiNDk3YjM4ZDItZjRhNC00ZWIxLTgyODYtZWNkMmMyOTdjNGNhIiwidCI6ImM2ZTU0OWIzLTVmNDUtNDAzMi1hYWU5LWQ0MjQ0ZGM1YjJjNCJ9"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36431"/>
            <a:ext cx="4746772" cy="251338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t>Zomato Restaurant Aggregation and Analysis using Power BI</a:t>
            </a:r>
            <a:endParaRPr lang="en-US" sz="51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a:t>
            </a:r>
            <a:r>
              <a:rPr lang="en-US" sz="1600" b="1" cap="all" dirty="0" err="1"/>
              <a:t>Name:Khan</a:t>
            </a:r>
            <a:r>
              <a:rPr lang="en-US" sz="1600" b="1" cap="all" dirty="0"/>
              <a:t> Affan Mohammed </a:t>
            </a:r>
            <a:r>
              <a:rPr lang="en-US" sz="1600" b="1" cap="all" dirty="0" err="1"/>
              <a:t>usama</a:t>
            </a:r>
            <a:endParaRPr lang="en-US" sz="1600" b="1" cap="all" dirty="0"/>
          </a:p>
          <a:p>
            <a:pPr algn="l">
              <a:spcAft>
                <a:spcPts val="600"/>
              </a:spcAft>
            </a:pPr>
            <a:r>
              <a:rPr lang="en-US" sz="1600" b="1" cap="all" dirty="0"/>
              <a:t>College </a:t>
            </a:r>
            <a:r>
              <a:rPr lang="en-US" sz="1600" b="1" cap="all" dirty="0" err="1"/>
              <a:t>Name:Walchand</a:t>
            </a:r>
            <a:r>
              <a:rPr lang="en-US" sz="1600" b="1" cap="all" dirty="0"/>
              <a:t> institute of technology </a:t>
            </a:r>
            <a:r>
              <a:rPr lang="en-US" sz="1600" b="1" cap="all" dirty="0" err="1"/>
              <a:t>solapur</a:t>
            </a:r>
            <a:endParaRPr lang="en-US" sz="1600" b="1" cap="all" dirty="0"/>
          </a:p>
          <a:p>
            <a:pPr algn="l">
              <a:spcAft>
                <a:spcPts val="600"/>
              </a:spcAft>
            </a:pPr>
            <a:r>
              <a:rPr lang="en-US" sz="1600" b="1" cap="all" dirty="0" err="1"/>
              <a:t>Department:computer</a:t>
            </a:r>
            <a:r>
              <a:rPr lang="en-US" sz="1600" b="1" cap="all" dirty="0"/>
              <a:t> science &amp; engineering</a:t>
            </a:r>
          </a:p>
          <a:p>
            <a:pPr algn="l">
              <a:spcAft>
                <a:spcPts val="600"/>
              </a:spcAft>
            </a:pPr>
            <a:r>
              <a:rPr lang="en-US" sz="1600" b="1" cap="all" dirty="0"/>
              <a:t>Email ID:maakhan2109@gmail.com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stretch>
            <a:fillRect/>
          </a:stretch>
        </p:blipFill>
        <p:spPr>
          <a:xfrm>
            <a:off x="6409990" y="963029"/>
            <a:ext cx="4590784" cy="493648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r>
              <a:rPr lang="en-US" sz="2200" dirty="0">
                <a:latin typeface="Arial"/>
                <a:cs typeface="Arial"/>
              </a:rPr>
              <a:t>(Should not include solution)</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Problem Statement:</a:t>
            </a:r>
            <a:endParaRPr lang="en-US" sz="4000" dirty="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latin typeface="Franklin Gothic Book" panose="020B0503020102020204" pitchFamily="34" charset="0"/>
              </a:rPr>
              <a:t>Restaurants and food delivery platforms collect massive amounts of data. However, analyzing this data manually is difficult and time-consuming.</a:t>
            </a:r>
          </a:p>
          <a:p>
            <a:pPr marL="0" indent="0">
              <a:buNone/>
            </a:pPr>
            <a:r>
              <a:rPr lang="en-US" sz="2400" dirty="0">
                <a:latin typeface="Franklin Gothic Book" panose="020B0503020102020204" pitchFamily="34" charset="0"/>
              </a:rPr>
              <a:t>The challenge is to transform raw restaurant data into meaningful insights that can help identify:</a:t>
            </a:r>
          </a:p>
          <a:p>
            <a:r>
              <a:rPr lang="en-US" sz="2400" dirty="0">
                <a:latin typeface="Franklin Gothic Book" panose="020B0503020102020204" pitchFamily="34" charset="0"/>
              </a:rPr>
              <a:t>Popular cuisines</a:t>
            </a:r>
          </a:p>
          <a:p>
            <a:r>
              <a:rPr lang="en-US" sz="2400" dirty="0">
                <a:latin typeface="Franklin Gothic Book" panose="020B0503020102020204" pitchFamily="34" charset="0"/>
              </a:rPr>
              <a:t>Top-rated restaurants</a:t>
            </a:r>
          </a:p>
          <a:p>
            <a:r>
              <a:rPr lang="en-US" sz="2400" dirty="0">
                <a:latin typeface="Franklin Gothic Book" panose="020B0503020102020204" pitchFamily="34" charset="0"/>
              </a:rPr>
              <a:t>Restaurant distribution by city</a:t>
            </a:r>
          </a:p>
          <a:p>
            <a:r>
              <a:rPr lang="en-US" sz="2400" dirty="0">
                <a:latin typeface="Franklin Gothic Book" panose="020B0503020102020204" pitchFamily="34" charset="0"/>
              </a:rPr>
              <a:t>Price range trends</a:t>
            </a:r>
          </a:p>
          <a:p>
            <a:r>
              <a:rPr lang="en-US" sz="2400" dirty="0">
                <a:latin typeface="Franklin Gothic Book" panose="020B0503020102020204" pitchFamily="34" charset="0"/>
              </a:rPr>
              <a:t>Power BI dashboards can help visualize and analyze these patterns effectively.</a:t>
            </a:r>
          </a:p>
          <a:p>
            <a:pPr marL="0" indent="0">
              <a:buNone/>
            </a:pPr>
            <a:r>
              <a:rPr lang="en-IN" sz="2200" dirty="0">
                <a:latin typeface="Franklin Gothic Book"/>
              </a:rPr>
              <a:t>.</a:t>
            </a: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507253"/>
            <a:ext cx="10110630" cy="4747497"/>
          </a:xfrm>
        </p:spPr>
        <p:txBody>
          <a:bodyPr vert="horz" lIns="91440" tIns="45720" rIns="91440" bIns="45720" rtlCol="0" anchor="t">
            <a:noAutofit/>
          </a:bodyPr>
          <a:lstStyle/>
          <a:p>
            <a:pPr marL="0" indent="0">
              <a:buNone/>
            </a:pPr>
            <a:r>
              <a:rPr lang="en-US" sz="1800" dirty="0">
                <a:latin typeface="Arial" panose="020B0604020202020204" pitchFamily="34" charset="0"/>
                <a:cs typeface="Arial" panose="020B0604020202020204" pitchFamily="34" charset="0"/>
              </a:rPr>
              <a:t>The solution involves collecting restaurant data from the Zomato dataset and performing data preprocessing, analysis, and visualization to understand restaurant trends and customer preferences.</a:t>
            </a:r>
          </a:p>
          <a:p>
            <a:pPr marL="0" indent="0">
              <a:buNone/>
            </a:pPr>
            <a:r>
              <a:rPr lang="en-US" sz="1800" b="1" dirty="0">
                <a:latin typeface="Arial" panose="020B0604020202020204" pitchFamily="34" charset="0"/>
                <a:cs typeface="Arial" panose="020B0604020202020204" pitchFamily="34" charset="0"/>
              </a:rPr>
              <a:t>Key Components of the Proposed Solution</a:t>
            </a:r>
          </a:p>
          <a:p>
            <a:pPr marL="0" indent="0">
              <a:buNone/>
            </a:pPr>
            <a:r>
              <a:rPr lang="en-US" sz="1800" b="1" dirty="0">
                <a:latin typeface="Arial" panose="020B0604020202020204" pitchFamily="34" charset="0"/>
                <a:cs typeface="Arial" panose="020B0604020202020204" pitchFamily="34" charset="0"/>
              </a:rPr>
              <a:t>1. Data Collection</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The Zomato dataset containing restaurant information such as restaurant name, city, cuisines, ratings, votes, and cost for two is used as the primary data source.</a:t>
            </a:r>
          </a:p>
          <a:p>
            <a:pPr marL="0" indent="0">
              <a:buNone/>
            </a:pPr>
            <a:r>
              <a:rPr lang="en-US" sz="1800" b="1" dirty="0">
                <a:latin typeface="Arial" panose="020B0604020202020204" pitchFamily="34" charset="0"/>
                <a:cs typeface="Arial" panose="020B0604020202020204" pitchFamily="34" charset="0"/>
              </a:rPr>
              <a:t>2. Data Cleaning and Transformation</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Data preprocessing is performed using </a:t>
            </a:r>
            <a:r>
              <a:rPr lang="en-US" sz="1800" b="1" dirty="0">
                <a:latin typeface="Arial" panose="020B0604020202020204" pitchFamily="34" charset="0"/>
                <a:cs typeface="Arial" panose="020B0604020202020204" pitchFamily="34" charset="0"/>
              </a:rPr>
              <a:t>Power Query</a:t>
            </a:r>
            <a:r>
              <a:rPr lang="en-US" sz="1800" dirty="0">
                <a:latin typeface="Arial" panose="020B0604020202020204" pitchFamily="34" charset="0"/>
                <a:cs typeface="Arial" panose="020B0604020202020204" pitchFamily="34" charset="0"/>
              </a:rPr>
              <a:t> to:</a:t>
            </a:r>
          </a:p>
          <a:p>
            <a:r>
              <a:rPr lang="en-US" sz="1800" dirty="0">
                <a:latin typeface="Arial" panose="020B0604020202020204" pitchFamily="34" charset="0"/>
                <a:cs typeface="Arial" panose="020B0604020202020204" pitchFamily="34" charset="0"/>
              </a:rPr>
              <a:t>Remove duplicate records</a:t>
            </a:r>
          </a:p>
          <a:p>
            <a:r>
              <a:rPr lang="en-US" sz="1800" dirty="0">
                <a:latin typeface="Arial" panose="020B0604020202020204" pitchFamily="34" charset="0"/>
                <a:cs typeface="Arial" panose="020B0604020202020204" pitchFamily="34" charset="0"/>
              </a:rPr>
              <a:t>Handle missing values</a:t>
            </a:r>
          </a:p>
          <a:p>
            <a:r>
              <a:rPr lang="en-US" sz="1800" dirty="0">
                <a:latin typeface="Arial" panose="020B0604020202020204" pitchFamily="34" charset="0"/>
                <a:cs typeface="Arial" panose="020B0604020202020204" pitchFamily="34" charset="0"/>
              </a:rPr>
              <a:t>Standardize city and cuisine names</a:t>
            </a:r>
          </a:p>
          <a:p>
            <a:r>
              <a:rPr lang="en-US" sz="1800" dirty="0">
                <a:latin typeface="Arial" panose="020B0604020202020204" pitchFamily="34" charset="0"/>
                <a:cs typeface="Arial" panose="020B0604020202020204" pitchFamily="34" charset="0"/>
              </a:rPr>
              <a:t>Convert columns into appropriate data types</a:t>
            </a:r>
          </a:p>
          <a:p>
            <a:pPr marL="0" indent="0">
              <a:spcBef>
                <a:spcPct val="20000"/>
              </a:spcBef>
              <a:spcAft>
                <a:spcPts val="600"/>
              </a:spcAft>
              <a:buNone/>
            </a:pPr>
            <a:r>
              <a:rPr lang="en-US" sz="1800" b="1" dirty="0">
                <a:latin typeface="Arial" panose="020B0604020202020204" pitchFamily="34" charset="0"/>
                <a:cs typeface="Arial" panose="020B0604020202020204" pitchFamily="34" charset="0"/>
              </a:rPr>
              <a:t>3. Data Modeling</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Relationships and calculated measures are created using </a:t>
            </a:r>
            <a:r>
              <a:rPr lang="en-US" sz="1800" b="1" dirty="0">
                <a:latin typeface="Arial" panose="020B0604020202020204" pitchFamily="34" charset="0"/>
                <a:cs typeface="Arial" panose="020B0604020202020204" pitchFamily="34" charset="0"/>
              </a:rPr>
              <a:t>DAX (Data Analysis Expressions)</a:t>
            </a:r>
            <a:r>
              <a:rPr lang="en-US" sz="1800" dirty="0">
                <a:latin typeface="Arial" panose="020B0604020202020204" pitchFamily="34" charset="0"/>
                <a:cs typeface="Arial" panose="020B0604020202020204" pitchFamily="34" charset="0"/>
              </a:rPr>
              <a:t> to enable efficient analysis.</a:t>
            </a:r>
          </a:p>
          <a:p>
            <a:pPr marL="0" indent="0">
              <a:spcBef>
                <a:spcPct val="20000"/>
              </a:spcBef>
              <a:spcAft>
                <a:spcPts val="600"/>
              </a:spcAft>
              <a:buNone/>
            </a:pP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8C5C0B14-BE18-EFC7-066A-6A3CB47B8017}"/>
              </a:ext>
            </a:extLst>
          </p:cNvPr>
          <p:cNvSpPr>
            <a:spLocks noGrp="1"/>
          </p:cNvSpPr>
          <p:nvPr>
            <p:ph type="subTitle" idx="1"/>
          </p:nvPr>
        </p:nvSpPr>
        <p:spPr>
          <a:xfrm>
            <a:off x="458875" y="1416817"/>
            <a:ext cx="11274249" cy="3788229"/>
          </a:xfrm>
        </p:spPr>
        <p:txBody>
          <a:bodyPr/>
          <a:lstStyle/>
          <a:p>
            <a:pPr algn="l"/>
            <a:r>
              <a:rPr lang="en-US" sz="2000" b="1" dirty="0">
                <a:latin typeface="Arial" panose="020B0604020202020204" pitchFamily="34" charset="0"/>
                <a:cs typeface="Arial" panose="020B0604020202020204" pitchFamily="34" charset="0"/>
              </a:rPr>
              <a:t>4. Dashboard Development</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Interactive dashboards are created in </a:t>
            </a:r>
            <a:r>
              <a:rPr lang="en-US" sz="2000" b="1" dirty="0">
                <a:latin typeface="Arial" panose="020B0604020202020204" pitchFamily="34" charset="0"/>
                <a:cs typeface="Arial" panose="020B0604020202020204" pitchFamily="34" charset="0"/>
              </a:rPr>
              <a:t>Power BI</a:t>
            </a:r>
            <a:r>
              <a:rPr lang="en-US" sz="2000" dirty="0">
                <a:latin typeface="Arial" panose="020B0604020202020204" pitchFamily="34" charset="0"/>
                <a:cs typeface="Arial" panose="020B0604020202020204" pitchFamily="34" charset="0"/>
              </a:rPr>
              <a:t> to visualize key insights such as:</a:t>
            </a:r>
          </a:p>
          <a:p>
            <a:pPr marL="285750" indent="-285750" algn="l">
              <a:buFont typeface="Arial" panose="020B0604020202020204" pitchFamily="34" charset="0"/>
              <a:buChar char="•"/>
            </a:pPr>
            <a:r>
              <a:rPr lang="en-US" sz="2000" dirty="0">
                <a:latin typeface="Arial" panose="020B0604020202020204" pitchFamily="34" charset="0"/>
                <a:cs typeface="Arial" panose="020B0604020202020204" pitchFamily="34" charset="0"/>
              </a:rPr>
              <a:t>Restaurant distribution by city</a:t>
            </a:r>
          </a:p>
          <a:p>
            <a:pPr marL="285750" indent="-285750" algn="l">
              <a:buFont typeface="Arial" panose="020B0604020202020204" pitchFamily="34" charset="0"/>
              <a:buChar char="•"/>
            </a:pPr>
            <a:r>
              <a:rPr lang="en-US" sz="2000" dirty="0">
                <a:latin typeface="Arial" panose="020B0604020202020204" pitchFamily="34" charset="0"/>
                <a:cs typeface="Arial" panose="020B0604020202020204" pitchFamily="34" charset="0"/>
              </a:rPr>
              <a:t>Most popular cuisines</a:t>
            </a:r>
          </a:p>
          <a:p>
            <a:pPr marL="285750" indent="-285750" algn="l">
              <a:buFont typeface="Arial" panose="020B0604020202020204" pitchFamily="34" charset="0"/>
              <a:buChar char="•"/>
            </a:pPr>
            <a:r>
              <a:rPr lang="en-US" sz="2000" dirty="0">
                <a:latin typeface="Arial" panose="020B0604020202020204" pitchFamily="34" charset="0"/>
                <a:cs typeface="Arial" panose="020B0604020202020204" pitchFamily="34" charset="0"/>
              </a:rPr>
              <a:t>Rating distribution</a:t>
            </a:r>
          </a:p>
          <a:p>
            <a:pPr marL="285750" indent="-285750" algn="l">
              <a:buFont typeface="Arial" panose="020B0604020202020204" pitchFamily="34" charset="0"/>
              <a:buChar char="•"/>
            </a:pPr>
            <a:r>
              <a:rPr lang="en-US" sz="2000" dirty="0">
                <a:latin typeface="Arial" panose="020B0604020202020204" pitchFamily="34" charset="0"/>
                <a:cs typeface="Arial" panose="020B0604020202020204" pitchFamily="34" charset="0"/>
              </a:rPr>
              <a:t>Price range comparison</a:t>
            </a:r>
          </a:p>
          <a:p>
            <a:pPr algn="l"/>
            <a:r>
              <a:rPr lang="en-US" sz="2000" b="1" dirty="0">
                <a:latin typeface="Arial" panose="020B0604020202020204" pitchFamily="34" charset="0"/>
                <a:cs typeface="Arial" panose="020B0604020202020204" pitchFamily="34" charset="0"/>
              </a:rPr>
              <a:t>5. Insight Generation</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The dashboards help identify patterns in restaurant performance, customer preferences, and pricing trends.</a:t>
            </a:r>
          </a:p>
          <a:p>
            <a:pPr algn="l"/>
            <a:r>
              <a:rPr lang="en-US" sz="2000" b="1" dirty="0">
                <a:latin typeface="Arial" panose="020B0604020202020204" pitchFamily="34" charset="0"/>
                <a:cs typeface="Arial" panose="020B0604020202020204" pitchFamily="34" charset="0"/>
              </a:rPr>
              <a:t>Expected Outcome</a:t>
            </a:r>
          </a:p>
          <a:p>
            <a:pPr algn="l"/>
            <a:r>
              <a:rPr lang="en-US" sz="2000" dirty="0">
                <a:latin typeface="Arial" panose="020B0604020202020204" pitchFamily="34" charset="0"/>
                <a:cs typeface="Arial" panose="020B0604020202020204" pitchFamily="34" charset="0"/>
              </a:rPr>
              <a:t>The proposed solution will provide an </a:t>
            </a:r>
            <a:r>
              <a:rPr lang="en-US" sz="2000" b="1" dirty="0">
                <a:latin typeface="Arial" panose="020B0604020202020204" pitchFamily="34" charset="0"/>
                <a:cs typeface="Arial" panose="020B0604020202020204" pitchFamily="34" charset="0"/>
              </a:rPr>
              <a:t>interactive and easy-to-understand visualization of restaurant data</a:t>
            </a:r>
            <a:r>
              <a:rPr lang="en-US" sz="2000" dirty="0">
                <a:latin typeface="Arial" panose="020B0604020202020204" pitchFamily="34" charset="0"/>
                <a:cs typeface="Arial" panose="020B0604020202020204" pitchFamily="34" charset="0"/>
              </a:rPr>
              <a:t>, enabling better understanding of market trends and helping businesses make </a:t>
            </a:r>
            <a:r>
              <a:rPr lang="en-US" sz="2000" b="1" dirty="0">
                <a:latin typeface="Arial" panose="020B0604020202020204" pitchFamily="34" charset="0"/>
                <a:cs typeface="Arial" panose="020B0604020202020204" pitchFamily="34" charset="0"/>
              </a:rPr>
              <a:t>data-driven decisions</a:t>
            </a:r>
            <a:r>
              <a:rPr lang="en-US" sz="2000" dirty="0">
                <a:latin typeface="Arial" panose="020B0604020202020204" pitchFamily="34" charset="0"/>
                <a:cs typeface="Arial" panose="020B0604020202020204" pitchFamily="34" charset="0"/>
              </a:rPr>
              <a:t>.</a:t>
            </a:r>
          </a:p>
          <a:p>
            <a:pPr algn="l"/>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8126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362308"/>
            <a:ext cx="10515600" cy="5159071"/>
          </a:xfrm>
        </p:spPr>
        <p:txBody>
          <a:bodyPr vert="horz" lIns="91440" tIns="45720" rIns="91440" bIns="45720" rtlCol="0">
            <a:normAutofit lnSpcReduction="10000"/>
          </a:bodyPr>
          <a:lstStyle/>
          <a:p>
            <a:pPr marL="0" indent="0">
              <a:buNone/>
            </a:pPr>
            <a:r>
              <a:rPr lang="en-US" sz="1400" dirty="0"/>
              <a:t>The system development approach for this project focuses on </a:t>
            </a:r>
            <a:r>
              <a:rPr lang="en-US" sz="1400" b="1" dirty="0"/>
              <a:t>data collection, preprocessing, analysis, and visualization</a:t>
            </a:r>
            <a:r>
              <a:rPr lang="en-US" sz="1400" dirty="0"/>
              <a:t> using modern data analytics tools. The project was implemented using </a:t>
            </a:r>
            <a:r>
              <a:rPr lang="en-US" sz="1400" b="1" dirty="0"/>
              <a:t>Business Intelligence techniques</a:t>
            </a:r>
            <a:r>
              <a:rPr lang="en-US" sz="1400" dirty="0"/>
              <a:t> to transform raw Zomato restaurant data into meaningful insights.</a:t>
            </a:r>
          </a:p>
          <a:p>
            <a:pPr marL="0" indent="0">
              <a:buNone/>
            </a:pPr>
            <a:r>
              <a:rPr lang="en-US" sz="2000" b="1" dirty="0"/>
              <a:t>Technologies Used</a:t>
            </a:r>
          </a:p>
          <a:p>
            <a:pPr marL="0" indent="0">
              <a:buNone/>
            </a:pPr>
            <a:r>
              <a:rPr lang="en-US" sz="1400" b="1" dirty="0"/>
              <a:t>1. Microsoft Power BI</a:t>
            </a:r>
            <a:br>
              <a:rPr lang="en-US" sz="1400" dirty="0"/>
            </a:br>
            <a:r>
              <a:rPr lang="en-US" sz="1400" dirty="0"/>
              <a:t>Power BI is the main tool used for data analysis and visualization. It enables the creation of interactive dashboards and reports that help understand restaurant trends, ratings, cuisines, and pricing patterns.</a:t>
            </a:r>
          </a:p>
          <a:p>
            <a:pPr marL="0" indent="0">
              <a:buNone/>
            </a:pPr>
            <a:r>
              <a:rPr lang="en-US" sz="1400" b="1" dirty="0"/>
              <a:t>2. Power Query</a:t>
            </a:r>
            <a:br>
              <a:rPr lang="en-US" sz="1400" dirty="0"/>
            </a:br>
            <a:r>
              <a:rPr lang="en-US" sz="1400" dirty="0"/>
              <a:t>Power Query is used for </a:t>
            </a:r>
            <a:r>
              <a:rPr lang="en-US" sz="1400" b="1" dirty="0"/>
              <a:t>data cleaning and transformation</a:t>
            </a:r>
            <a:r>
              <a:rPr lang="en-US" sz="1400" dirty="0"/>
              <a:t>. It helps in removing duplicates, handling missing values, and preparing the dataset for analysis.</a:t>
            </a:r>
          </a:p>
          <a:p>
            <a:pPr marL="0" indent="0">
              <a:buNone/>
            </a:pPr>
            <a:r>
              <a:rPr lang="en-US" sz="1400" b="1" dirty="0"/>
              <a:t>3. DAX (Data Analysis Expressions)</a:t>
            </a:r>
            <a:br>
              <a:rPr lang="en-US" sz="1400" dirty="0"/>
            </a:br>
            <a:r>
              <a:rPr lang="en-US" sz="1400" dirty="0"/>
              <a:t>DAX is used to create </a:t>
            </a:r>
            <a:r>
              <a:rPr lang="en-US" sz="1400" b="1" dirty="0"/>
              <a:t>calculated columns, measures, and aggregations</a:t>
            </a:r>
            <a:r>
              <a:rPr lang="en-US" sz="1400" dirty="0"/>
              <a:t> such as total restaurants, average rating, and total votes.</a:t>
            </a:r>
          </a:p>
          <a:p>
            <a:pPr marL="0" indent="0">
              <a:buNone/>
            </a:pPr>
            <a:r>
              <a:rPr lang="en-US" sz="1400" b="1" dirty="0"/>
              <a:t>4. Data Visualization Techniques</a:t>
            </a:r>
            <a:br>
              <a:rPr lang="en-US" sz="1400" dirty="0"/>
            </a:br>
            <a:r>
              <a:rPr lang="en-US" sz="1400" dirty="0"/>
              <a:t>Various visual elements are used in Power BI dashboards including:</a:t>
            </a:r>
          </a:p>
          <a:p>
            <a:r>
              <a:rPr lang="en-US" sz="1400" dirty="0"/>
              <a:t>Bar Charts</a:t>
            </a:r>
          </a:p>
          <a:p>
            <a:r>
              <a:rPr lang="en-US" sz="1400" dirty="0"/>
              <a:t>Pie Charts</a:t>
            </a:r>
          </a:p>
          <a:p>
            <a:r>
              <a:rPr lang="en-US" sz="1400" dirty="0"/>
              <a:t>Line Charts</a:t>
            </a:r>
          </a:p>
          <a:p>
            <a:r>
              <a:rPr lang="en-US" sz="1400" dirty="0"/>
              <a:t>Maps</a:t>
            </a:r>
          </a:p>
          <a:p>
            <a:r>
              <a:rPr lang="en-US" sz="1400" dirty="0"/>
              <a:t>Slicers and Filters</a:t>
            </a:r>
          </a:p>
          <a:p>
            <a:r>
              <a:rPr lang="en-US" sz="1400" dirty="0"/>
              <a:t>These visualizations help present data insights in a clear and interactive way.</a:t>
            </a:r>
          </a:p>
          <a:p>
            <a:pPr marL="0" indent="0">
              <a:spcBef>
                <a:spcPct val="20000"/>
              </a:spcBef>
              <a:spcAft>
                <a:spcPts val="600"/>
              </a:spcAft>
              <a:buNone/>
            </a:pPr>
            <a:endParaRPr lang="en-GB"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1125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FA628137-6780-EC9C-FB23-82E59A16A2EC}"/>
              </a:ext>
            </a:extLst>
          </p:cNvPr>
          <p:cNvSpPr>
            <a:spLocks noGrp="1"/>
          </p:cNvSpPr>
          <p:nvPr>
            <p:ph type="subTitle" idx="1"/>
          </p:nvPr>
        </p:nvSpPr>
        <p:spPr>
          <a:xfrm>
            <a:off x="261257" y="854109"/>
            <a:ext cx="11475218" cy="5526593"/>
          </a:xfrm>
        </p:spPr>
        <p:txBody>
          <a:bodyPr/>
          <a:lstStyle/>
          <a:p>
            <a:pPr algn="l"/>
            <a:r>
              <a:rPr lang="en-US" sz="1400" b="1" dirty="0">
                <a:latin typeface="Arial" panose="020B0604020202020204" pitchFamily="34" charset="0"/>
                <a:cs typeface="Arial" panose="020B0604020202020204" pitchFamily="34" charset="0"/>
              </a:rPr>
              <a:t>5. Dataset (Zomato Restaurant Data)</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The dataset includes restaurant details such as:</a:t>
            </a:r>
          </a:p>
          <a:p>
            <a:pPr marL="285750"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Restaurant Name</a:t>
            </a:r>
          </a:p>
          <a:p>
            <a:pPr marL="285750"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City</a:t>
            </a:r>
          </a:p>
          <a:p>
            <a:pPr marL="285750"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Cuisines</a:t>
            </a:r>
          </a:p>
          <a:p>
            <a:pPr marL="285750"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Rating</a:t>
            </a:r>
          </a:p>
          <a:p>
            <a:pPr marL="285750"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Votes</a:t>
            </a:r>
          </a:p>
          <a:p>
            <a:pPr marL="285750"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Average Cost for Two</a:t>
            </a:r>
          </a:p>
          <a:p>
            <a:pPr marL="285750"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Price Range</a:t>
            </a:r>
          </a:p>
          <a:p>
            <a:pPr algn="l"/>
            <a:r>
              <a:rPr lang="en-US" sz="2000" b="1" dirty="0">
                <a:latin typeface="Arial" panose="020B0604020202020204" pitchFamily="34" charset="0"/>
                <a:cs typeface="Arial" panose="020B0604020202020204" pitchFamily="34" charset="0"/>
              </a:rPr>
              <a:t>Development Approach</a:t>
            </a:r>
          </a:p>
          <a:p>
            <a:pPr algn="l"/>
            <a:r>
              <a:rPr lang="en-US" sz="1400" dirty="0">
                <a:latin typeface="Arial" panose="020B0604020202020204" pitchFamily="34" charset="0"/>
                <a:cs typeface="Arial" panose="020B0604020202020204" pitchFamily="34" charset="0"/>
              </a:rPr>
              <a:t>The project follows a </a:t>
            </a:r>
            <a:r>
              <a:rPr lang="en-US" sz="1400" b="1" dirty="0">
                <a:latin typeface="Arial" panose="020B0604020202020204" pitchFamily="34" charset="0"/>
                <a:cs typeface="Arial" panose="020B0604020202020204" pitchFamily="34" charset="0"/>
              </a:rPr>
              <a:t>step-by-step analytics workflow</a:t>
            </a:r>
            <a:r>
              <a:rPr lang="en-US" sz="1400" dirty="0">
                <a:latin typeface="Arial" panose="020B0604020202020204" pitchFamily="34" charset="0"/>
                <a:cs typeface="Arial" panose="020B0604020202020204" pitchFamily="34" charset="0"/>
              </a:rPr>
              <a:t>:</a:t>
            </a:r>
          </a:p>
          <a:p>
            <a:pPr marL="342900" indent="-342900" algn="l">
              <a:buFont typeface="+mj-lt"/>
              <a:buAutoNum type="arabicPeriod"/>
            </a:pPr>
            <a:r>
              <a:rPr lang="en-US" sz="1400" dirty="0">
                <a:latin typeface="Arial" panose="020B0604020202020204" pitchFamily="34" charset="0"/>
                <a:cs typeface="Arial" panose="020B0604020202020204" pitchFamily="34" charset="0"/>
              </a:rPr>
              <a:t>Data Collection</a:t>
            </a:r>
          </a:p>
          <a:p>
            <a:pPr marL="342900" indent="-342900" algn="l">
              <a:buFont typeface="+mj-lt"/>
              <a:buAutoNum type="arabicPeriod"/>
            </a:pPr>
            <a:r>
              <a:rPr lang="en-US" sz="1400" dirty="0">
                <a:latin typeface="Arial" panose="020B0604020202020204" pitchFamily="34" charset="0"/>
                <a:cs typeface="Arial" panose="020B0604020202020204" pitchFamily="34" charset="0"/>
              </a:rPr>
              <a:t>Data Cleaning using Power Query</a:t>
            </a:r>
          </a:p>
          <a:p>
            <a:pPr marL="342900" indent="-342900" algn="l">
              <a:buFont typeface="+mj-lt"/>
              <a:buAutoNum type="arabicPeriod"/>
            </a:pPr>
            <a:r>
              <a:rPr lang="en-US" sz="1400" dirty="0">
                <a:latin typeface="Arial" panose="020B0604020202020204" pitchFamily="34" charset="0"/>
                <a:cs typeface="Arial" panose="020B0604020202020204" pitchFamily="34" charset="0"/>
              </a:rPr>
              <a:t>Data Modeling using DAX</a:t>
            </a:r>
          </a:p>
          <a:p>
            <a:pPr marL="342900" indent="-342900" algn="l">
              <a:buFont typeface="+mj-lt"/>
              <a:buAutoNum type="arabicPeriod"/>
            </a:pPr>
            <a:r>
              <a:rPr lang="en-US" sz="1400" dirty="0">
                <a:latin typeface="Arial" panose="020B0604020202020204" pitchFamily="34" charset="0"/>
                <a:cs typeface="Arial" panose="020B0604020202020204" pitchFamily="34" charset="0"/>
              </a:rPr>
              <a:t>Dashboard Development in Power BI</a:t>
            </a:r>
          </a:p>
          <a:p>
            <a:pPr marL="342900" indent="-342900" algn="l">
              <a:buFont typeface="+mj-lt"/>
              <a:buAutoNum type="arabicPeriod"/>
            </a:pPr>
            <a:r>
              <a:rPr lang="en-US" sz="1400" dirty="0">
                <a:latin typeface="Arial" panose="020B0604020202020204" pitchFamily="34" charset="0"/>
                <a:cs typeface="Arial" panose="020B0604020202020204" pitchFamily="34" charset="0"/>
              </a:rPr>
              <a:t>Insight Generation and Analysis</a:t>
            </a:r>
          </a:p>
          <a:p>
            <a:pPr algn="l"/>
            <a:r>
              <a:rPr lang="en-US" sz="1400" dirty="0">
                <a:latin typeface="Arial" panose="020B0604020202020204" pitchFamily="34" charset="0"/>
                <a:cs typeface="Arial" panose="020B0604020202020204" pitchFamily="34" charset="0"/>
              </a:rPr>
              <a:t>This approach ensures that the data is properly processed and visualized to support effective decision-making.</a:t>
            </a:r>
          </a:p>
          <a:p>
            <a:pPr algn="l"/>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9603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699" y="1426866"/>
            <a:ext cx="10686003" cy="4744540"/>
          </a:xfrm>
        </p:spPr>
        <p:txBody>
          <a:bodyPr vert="horz" lIns="91440" tIns="45720" rIns="91440" bIns="45720" rtlCol="0">
            <a:normAutofit fontScale="32500" lnSpcReduction="20000"/>
          </a:bodyPr>
          <a:lstStyle/>
          <a:p>
            <a:pPr marL="0" indent="0">
              <a:buNone/>
            </a:pPr>
            <a:r>
              <a:rPr lang="en-US" sz="5500" b="1" dirty="0">
                <a:latin typeface="Arial" panose="020B0604020202020204" pitchFamily="34" charset="0"/>
                <a:cs typeface="Arial" panose="020B0604020202020204" pitchFamily="34" charset="0"/>
              </a:rPr>
              <a:t>Algorithm (Workflow of the System)</a:t>
            </a:r>
          </a:p>
          <a:p>
            <a:pPr marL="0" indent="0">
              <a:buNone/>
            </a:pPr>
            <a:r>
              <a:rPr lang="en-US" sz="3700" dirty="0">
                <a:latin typeface="Arial" panose="020B0604020202020204" pitchFamily="34" charset="0"/>
                <a:cs typeface="Arial" panose="020B0604020202020204" pitchFamily="34" charset="0"/>
              </a:rPr>
              <a:t>The algorithm represents the step-by-step process used to analyze the Zomato dataset and generate insights using </a:t>
            </a:r>
            <a:r>
              <a:rPr lang="en-US" sz="3700" b="1" dirty="0">
                <a:latin typeface="Arial" panose="020B0604020202020204" pitchFamily="34" charset="0"/>
                <a:cs typeface="Arial" panose="020B0604020202020204" pitchFamily="34" charset="0"/>
              </a:rPr>
              <a:t>Microsoft Power BI</a:t>
            </a:r>
            <a:r>
              <a:rPr lang="en-US" sz="3700" dirty="0">
                <a:latin typeface="Arial" panose="020B0604020202020204" pitchFamily="34" charset="0"/>
                <a:cs typeface="Arial" panose="020B0604020202020204" pitchFamily="34" charset="0"/>
              </a:rPr>
              <a:t>.</a:t>
            </a:r>
          </a:p>
          <a:p>
            <a:pPr marL="0" indent="0">
              <a:buNone/>
            </a:pPr>
            <a:r>
              <a:rPr lang="en-US" sz="3700" b="1" dirty="0">
                <a:latin typeface="Arial" panose="020B0604020202020204" pitchFamily="34" charset="0"/>
                <a:cs typeface="Arial" panose="020B0604020202020204" pitchFamily="34" charset="0"/>
              </a:rPr>
              <a:t>Steps of the Algorithm</a:t>
            </a:r>
          </a:p>
          <a:p>
            <a:pPr marL="514350" indent="-514350">
              <a:buFont typeface="+mj-lt"/>
              <a:buAutoNum type="arabicPeriod"/>
            </a:pPr>
            <a:r>
              <a:rPr lang="en-US" sz="3700" dirty="0">
                <a:latin typeface="Arial" panose="020B0604020202020204" pitchFamily="34" charset="0"/>
                <a:cs typeface="Arial" panose="020B0604020202020204" pitchFamily="34" charset="0"/>
              </a:rPr>
              <a:t>Start</a:t>
            </a:r>
          </a:p>
          <a:p>
            <a:pPr marL="514350" indent="-514350">
              <a:buFont typeface="+mj-lt"/>
              <a:buAutoNum type="arabicPeriod"/>
            </a:pPr>
            <a:r>
              <a:rPr lang="en-US" sz="3700" dirty="0">
                <a:latin typeface="Arial" panose="020B0604020202020204" pitchFamily="34" charset="0"/>
                <a:cs typeface="Arial" panose="020B0604020202020204" pitchFamily="34" charset="0"/>
              </a:rPr>
              <a:t>Load Dataset:</a:t>
            </a:r>
            <a:br>
              <a:rPr lang="en-US" sz="3700" dirty="0">
                <a:latin typeface="Arial" panose="020B0604020202020204" pitchFamily="34" charset="0"/>
                <a:cs typeface="Arial" panose="020B0604020202020204" pitchFamily="34" charset="0"/>
              </a:rPr>
            </a:br>
            <a:r>
              <a:rPr lang="en-US" sz="3700" dirty="0">
                <a:latin typeface="Arial" panose="020B0604020202020204" pitchFamily="34" charset="0"/>
                <a:cs typeface="Arial" panose="020B0604020202020204" pitchFamily="34" charset="0"/>
              </a:rPr>
              <a:t>Import the Zomato restaurant dataset into Power BI.</a:t>
            </a:r>
          </a:p>
          <a:p>
            <a:pPr marL="514350" indent="-514350">
              <a:buFont typeface="+mj-lt"/>
              <a:buAutoNum type="arabicPeriod"/>
            </a:pPr>
            <a:r>
              <a:rPr lang="en-US" sz="3700" dirty="0">
                <a:latin typeface="Arial" panose="020B0604020202020204" pitchFamily="34" charset="0"/>
                <a:cs typeface="Arial" panose="020B0604020202020204" pitchFamily="34" charset="0"/>
              </a:rPr>
              <a:t>Data Cleaning:</a:t>
            </a:r>
            <a:br>
              <a:rPr lang="en-US" sz="3700" dirty="0">
                <a:latin typeface="Arial" panose="020B0604020202020204" pitchFamily="34" charset="0"/>
                <a:cs typeface="Arial" panose="020B0604020202020204" pitchFamily="34" charset="0"/>
              </a:rPr>
            </a:br>
            <a:r>
              <a:rPr lang="en-US" sz="3700" dirty="0">
                <a:latin typeface="Arial" panose="020B0604020202020204" pitchFamily="34" charset="0"/>
                <a:cs typeface="Arial" panose="020B0604020202020204" pitchFamily="34" charset="0"/>
              </a:rPr>
              <a:t>Use Power Query to remove duplicates, handle missing values, and standardize columns.</a:t>
            </a:r>
          </a:p>
          <a:p>
            <a:pPr marL="514350" indent="-514350">
              <a:buFont typeface="+mj-lt"/>
              <a:buAutoNum type="arabicPeriod"/>
            </a:pPr>
            <a:r>
              <a:rPr lang="en-US" sz="3700" dirty="0">
                <a:latin typeface="Arial" panose="020B0604020202020204" pitchFamily="34" charset="0"/>
                <a:cs typeface="Arial" panose="020B0604020202020204" pitchFamily="34" charset="0"/>
              </a:rPr>
              <a:t>Data Transformation:</a:t>
            </a:r>
            <a:br>
              <a:rPr lang="en-US" sz="3700" dirty="0">
                <a:latin typeface="Arial" panose="020B0604020202020204" pitchFamily="34" charset="0"/>
                <a:cs typeface="Arial" panose="020B0604020202020204" pitchFamily="34" charset="0"/>
              </a:rPr>
            </a:br>
            <a:r>
              <a:rPr lang="en-US" sz="3700" dirty="0">
                <a:latin typeface="Arial" panose="020B0604020202020204" pitchFamily="34" charset="0"/>
                <a:cs typeface="Arial" panose="020B0604020202020204" pitchFamily="34" charset="0"/>
              </a:rPr>
              <a:t>Convert columns into appropriate data types and split cuisine categories if required.</a:t>
            </a:r>
          </a:p>
          <a:p>
            <a:pPr marL="514350" indent="-514350">
              <a:buFont typeface="+mj-lt"/>
              <a:buAutoNum type="arabicPeriod"/>
            </a:pPr>
            <a:r>
              <a:rPr lang="en-US" sz="3700" dirty="0">
                <a:latin typeface="Arial" panose="020B0604020202020204" pitchFamily="34" charset="0"/>
                <a:cs typeface="Arial" panose="020B0604020202020204" pitchFamily="34" charset="0"/>
              </a:rPr>
              <a:t>Data Modeling:</a:t>
            </a:r>
            <a:br>
              <a:rPr lang="en-US" sz="3700" dirty="0">
                <a:latin typeface="Arial" panose="020B0604020202020204" pitchFamily="34" charset="0"/>
                <a:cs typeface="Arial" panose="020B0604020202020204" pitchFamily="34" charset="0"/>
              </a:rPr>
            </a:br>
            <a:r>
              <a:rPr lang="en-US" sz="3700" dirty="0">
                <a:latin typeface="Arial" panose="020B0604020202020204" pitchFamily="34" charset="0"/>
                <a:cs typeface="Arial" panose="020B0604020202020204" pitchFamily="34" charset="0"/>
              </a:rPr>
              <a:t>Create calculated columns and measures using DAX (Data Analysis Expressions).</a:t>
            </a:r>
          </a:p>
          <a:p>
            <a:pPr marL="514350" indent="-514350">
              <a:buFont typeface="+mj-lt"/>
              <a:buAutoNum type="arabicPeriod"/>
            </a:pPr>
            <a:r>
              <a:rPr lang="en-US" sz="3700" dirty="0">
                <a:latin typeface="Arial" panose="020B0604020202020204" pitchFamily="34" charset="0"/>
                <a:cs typeface="Arial" panose="020B0604020202020204" pitchFamily="34" charset="0"/>
              </a:rPr>
              <a:t>Create Visualizations:</a:t>
            </a:r>
            <a:br>
              <a:rPr lang="en-US" sz="3700" dirty="0">
                <a:latin typeface="Arial" panose="020B0604020202020204" pitchFamily="34" charset="0"/>
                <a:cs typeface="Arial" panose="020B0604020202020204" pitchFamily="34" charset="0"/>
              </a:rPr>
            </a:br>
            <a:r>
              <a:rPr lang="en-US" sz="3700" dirty="0">
                <a:latin typeface="Arial" panose="020B0604020202020204" pitchFamily="34" charset="0"/>
                <a:cs typeface="Arial" panose="020B0604020202020204" pitchFamily="34" charset="0"/>
              </a:rPr>
              <a:t>Develop charts, graphs, and dashboards to represent:</a:t>
            </a:r>
          </a:p>
          <a:p>
            <a:pPr lvl="1"/>
            <a:r>
              <a:rPr lang="en-US" sz="3700" dirty="0">
                <a:latin typeface="Arial" panose="020B0604020202020204" pitchFamily="34" charset="0"/>
                <a:cs typeface="Arial" panose="020B0604020202020204" pitchFamily="34" charset="0"/>
              </a:rPr>
              <a:t>Restaurant distribution by city</a:t>
            </a:r>
          </a:p>
          <a:p>
            <a:pPr lvl="1"/>
            <a:r>
              <a:rPr lang="en-US" sz="3700" dirty="0">
                <a:latin typeface="Arial" panose="020B0604020202020204" pitchFamily="34" charset="0"/>
                <a:cs typeface="Arial" panose="020B0604020202020204" pitchFamily="34" charset="0"/>
              </a:rPr>
              <a:t>Popular cuisines</a:t>
            </a:r>
          </a:p>
          <a:p>
            <a:pPr lvl="1"/>
            <a:r>
              <a:rPr lang="en-US" sz="3700" dirty="0">
                <a:latin typeface="Arial" panose="020B0604020202020204" pitchFamily="34" charset="0"/>
                <a:cs typeface="Arial" panose="020B0604020202020204" pitchFamily="34" charset="0"/>
              </a:rPr>
              <a:t>Rating analysis</a:t>
            </a:r>
          </a:p>
          <a:p>
            <a:pPr lvl="1"/>
            <a:r>
              <a:rPr lang="en-US" sz="3700" dirty="0">
                <a:latin typeface="Arial" panose="020B0604020202020204" pitchFamily="34" charset="0"/>
                <a:cs typeface="Arial" panose="020B0604020202020204" pitchFamily="34" charset="0"/>
              </a:rPr>
              <a:t>Price range comparison</a:t>
            </a:r>
          </a:p>
          <a:p>
            <a:pPr marL="514350" indent="-514350">
              <a:buFont typeface="+mj-lt"/>
              <a:buAutoNum type="arabicPeriod"/>
            </a:pPr>
            <a:r>
              <a:rPr lang="en-US" sz="3700" dirty="0">
                <a:latin typeface="Arial" panose="020B0604020202020204" pitchFamily="34" charset="0"/>
                <a:cs typeface="Arial" panose="020B0604020202020204" pitchFamily="34" charset="0"/>
              </a:rPr>
              <a:t>Generate Insights:</a:t>
            </a:r>
            <a:br>
              <a:rPr lang="en-US" sz="3700" dirty="0">
                <a:latin typeface="Arial" panose="020B0604020202020204" pitchFamily="34" charset="0"/>
                <a:cs typeface="Arial" panose="020B0604020202020204" pitchFamily="34" charset="0"/>
              </a:rPr>
            </a:br>
            <a:r>
              <a:rPr lang="en-US" sz="3700" dirty="0">
                <a:latin typeface="Arial" panose="020B0604020202020204" pitchFamily="34" charset="0"/>
                <a:cs typeface="Arial" panose="020B0604020202020204" pitchFamily="34" charset="0"/>
              </a:rPr>
              <a:t>Analyze patterns and trends in restaurant data.</a:t>
            </a:r>
          </a:p>
          <a:p>
            <a:pPr marL="514350" indent="-514350">
              <a:buFont typeface="+mj-lt"/>
              <a:buAutoNum type="arabicPeriod"/>
            </a:pPr>
            <a:r>
              <a:rPr lang="en-US" sz="3700" dirty="0">
                <a:latin typeface="Arial" panose="020B0604020202020204" pitchFamily="34" charset="0"/>
                <a:cs typeface="Arial" panose="020B0604020202020204" pitchFamily="34" charset="0"/>
              </a:rPr>
              <a:t>Display Interactive Dashboard</a:t>
            </a:r>
          </a:p>
          <a:p>
            <a:pPr marL="514350" indent="-514350">
              <a:buFont typeface="+mj-lt"/>
              <a:buAutoNum type="arabicPeriod"/>
            </a:pPr>
            <a:r>
              <a:rPr lang="en-US" sz="3700" dirty="0">
                <a:latin typeface="Arial" panose="020B0604020202020204" pitchFamily="34" charset="0"/>
                <a:cs typeface="Arial" panose="020B0604020202020204" pitchFamily="34" charset="0"/>
              </a:rPr>
              <a:t>End</a:t>
            </a:r>
          </a:p>
        </p:txBody>
      </p:sp>
    </p:spTree>
    <p:extLst>
      <p:ext uri="{BB962C8B-B14F-4D97-AF65-F5344CB8AC3E}">
        <p14:creationId xmlns:p14="http://schemas.microsoft.com/office/powerpoint/2010/main" val="1199084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BD1C730B-5179-7057-7DFF-AE584B1AAA21}"/>
              </a:ext>
            </a:extLst>
          </p:cNvPr>
          <p:cNvSpPr>
            <a:spLocks noGrp="1"/>
          </p:cNvSpPr>
          <p:nvPr>
            <p:ph type="subTitle" idx="1"/>
          </p:nvPr>
        </p:nvSpPr>
        <p:spPr>
          <a:xfrm>
            <a:off x="201613" y="823913"/>
            <a:ext cx="11715750" cy="5567362"/>
          </a:xfrm>
        </p:spPr>
        <p:txBody>
          <a:bodyPr/>
          <a:lstStyle/>
          <a:p>
            <a:pPr algn="l"/>
            <a:r>
              <a:rPr lang="en-US" sz="2800" b="1" dirty="0">
                <a:latin typeface="Arial" panose="020B0604020202020204" pitchFamily="34" charset="0"/>
                <a:cs typeface="Arial" panose="020B0604020202020204" pitchFamily="34" charset="0"/>
              </a:rPr>
              <a:t>Deployment</a:t>
            </a:r>
          </a:p>
          <a:p>
            <a:pPr algn="l"/>
            <a:r>
              <a:rPr lang="en-US" sz="1400" dirty="0">
                <a:latin typeface="Arial" panose="020B0604020202020204" pitchFamily="34" charset="0"/>
                <a:cs typeface="Arial" panose="020B0604020202020204" pitchFamily="34" charset="0"/>
              </a:rPr>
              <a:t>Deployment refers to making the developed Power BI dashboard accessible to users for analysis and decision-making.</a:t>
            </a:r>
          </a:p>
          <a:p>
            <a:pPr algn="l"/>
            <a:r>
              <a:rPr lang="en-US" sz="1600" b="1" dirty="0">
                <a:latin typeface="Arial" panose="020B0604020202020204" pitchFamily="34" charset="0"/>
                <a:cs typeface="Arial" panose="020B0604020202020204" pitchFamily="34" charset="0"/>
              </a:rPr>
              <a:t>Deployment Process</a:t>
            </a:r>
          </a:p>
          <a:p>
            <a:pPr algn="l"/>
            <a:r>
              <a:rPr lang="en-US" sz="1400" b="1" dirty="0">
                <a:latin typeface="Arial" panose="020B0604020202020204" pitchFamily="34" charset="0"/>
                <a:cs typeface="Arial" panose="020B0604020202020204" pitchFamily="34" charset="0"/>
              </a:rPr>
              <a:t>1. Dashboard Creation</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The final dashboard is created using </a:t>
            </a:r>
            <a:r>
              <a:rPr lang="en-US" sz="1400" b="1" dirty="0">
                <a:latin typeface="Arial" panose="020B0604020202020204" pitchFamily="34" charset="0"/>
                <a:cs typeface="Arial" panose="020B0604020202020204" pitchFamily="34" charset="0"/>
              </a:rPr>
              <a:t>Microsoft Power BI</a:t>
            </a:r>
            <a:r>
              <a:rPr lang="en-US" sz="1400" dirty="0">
                <a:latin typeface="Arial" panose="020B0604020202020204" pitchFamily="34" charset="0"/>
                <a:cs typeface="Arial" panose="020B0604020202020204" pitchFamily="34" charset="0"/>
              </a:rPr>
              <a:t> with interactive charts, filters, and slicers.</a:t>
            </a:r>
          </a:p>
          <a:p>
            <a:pPr algn="l"/>
            <a:r>
              <a:rPr lang="en-US" sz="1400" b="1" dirty="0">
                <a:latin typeface="Arial" panose="020B0604020202020204" pitchFamily="34" charset="0"/>
                <a:cs typeface="Arial" panose="020B0604020202020204" pitchFamily="34" charset="0"/>
              </a:rPr>
              <a:t>2. Report Publishing</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The completed report is published to </a:t>
            </a:r>
            <a:r>
              <a:rPr lang="en-US" sz="1400" b="1" dirty="0">
                <a:latin typeface="Arial" panose="020B0604020202020204" pitchFamily="34" charset="0"/>
                <a:cs typeface="Arial" panose="020B0604020202020204" pitchFamily="34" charset="0"/>
              </a:rPr>
              <a:t>Microsoft Power BI Service</a:t>
            </a:r>
            <a:r>
              <a:rPr lang="en-US" sz="1400" dirty="0">
                <a:latin typeface="Arial" panose="020B0604020202020204" pitchFamily="34" charset="0"/>
                <a:cs typeface="Arial" panose="020B0604020202020204" pitchFamily="34" charset="0"/>
              </a:rPr>
              <a:t>, which allows users to access the dashboard online.</a:t>
            </a:r>
          </a:p>
          <a:p>
            <a:pPr algn="l"/>
            <a:r>
              <a:rPr lang="en-US" sz="1400" b="1" dirty="0">
                <a:latin typeface="Arial" panose="020B0604020202020204" pitchFamily="34" charset="0"/>
                <a:cs typeface="Arial" panose="020B0604020202020204" pitchFamily="34" charset="0"/>
              </a:rPr>
              <a:t>3. Data Refresh</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The dataset can be refreshed periodically to update the dashboard with the latest restaurant data.</a:t>
            </a:r>
          </a:p>
          <a:p>
            <a:pPr algn="l"/>
            <a:r>
              <a:rPr lang="en-US" sz="1400" b="1" dirty="0">
                <a:latin typeface="Arial" panose="020B0604020202020204" pitchFamily="34" charset="0"/>
                <a:cs typeface="Arial" panose="020B0604020202020204" pitchFamily="34" charset="0"/>
              </a:rPr>
              <a:t>4. User Access</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Users can view the dashboard through:</a:t>
            </a:r>
          </a:p>
          <a:p>
            <a:pPr marL="285750"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Web browser</a:t>
            </a:r>
          </a:p>
          <a:p>
            <a:pPr marL="285750"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Mobile devices</a:t>
            </a:r>
          </a:p>
          <a:p>
            <a:pPr marL="285750"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Shared reports or links</a:t>
            </a:r>
          </a:p>
          <a:p>
            <a:pPr algn="l"/>
            <a:r>
              <a:rPr lang="en-US" sz="1400" b="1" dirty="0">
                <a:latin typeface="Arial" panose="020B0604020202020204" pitchFamily="34" charset="0"/>
                <a:cs typeface="Arial" panose="020B0604020202020204" pitchFamily="34" charset="0"/>
              </a:rPr>
              <a:t>Benefits of Deployment</a:t>
            </a:r>
          </a:p>
          <a:p>
            <a:pPr marL="285750"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Easy access to restaurant analytics</a:t>
            </a:r>
          </a:p>
          <a:p>
            <a:pPr marL="285750"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Interactive data exploration</a:t>
            </a:r>
          </a:p>
          <a:p>
            <a:pPr marL="285750" indent="-285750" algn="l">
              <a:buFont typeface="Arial" panose="020B0604020202020204" pitchFamily="34" charset="0"/>
              <a:buChar char="•"/>
            </a:pPr>
            <a:r>
              <a:rPr lang="en-US" sz="1400" dirty="0">
                <a:latin typeface="Arial" panose="020B0604020202020204" pitchFamily="34" charset="0"/>
                <a:cs typeface="Arial" panose="020B0604020202020204" pitchFamily="34" charset="0"/>
              </a:rPr>
              <a:t>Real-time insights for better decision-making</a:t>
            </a:r>
          </a:p>
          <a:p>
            <a:pPr algn="l"/>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8284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pic>
        <p:nvPicPr>
          <p:cNvPr id="5" name="Content Placeholder 4">
            <a:extLst>
              <a:ext uri="{FF2B5EF4-FFF2-40B4-BE49-F238E27FC236}">
                <a16:creationId xmlns:a16="http://schemas.microsoft.com/office/drawing/2014/main" id="{194A2A36-9116-FE4F-EDC4-CFE7374BD5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3547" y="1584325"/>
            <a:ext cx="7564781" cy="4251325"/>
          </a:xfrm>
        </p:spPr>
      </p:pic>
      <p:pic>
        <p:nvPicPr>
          <p:cNvPr id="9" name="Picture 8">
            <a:extLst>
              <a:ext uri="{FF2B5EF4-FFF2-40B4-BE49-F238E27FC236}">
                <a16:creationId xmlns:a16="http://schemas.microsoft.com/office/drawing/2014/main" id="{BBF1C056-25CE-0405-62AE-CDE9DDA04D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5937" y="961327"/>
            <a:ext cx="6159723" cy="5293423"/>
          </a:xfrm>
          <a:prstGeom prst="rect">
            <a:avLst/>
          </a:prstGeom>
        </p:spPr>
      </p:pic>
      <p:sp>
        <p:nvSpPr>
          <p:cNvPr id="10" name="Rectangle 9">
            <a:extLst>
              <a:ext uri="{FF2B5EF4-FFF2-40B4-BE49-F238E27FC236}">
                <a16:creationId xmlns:a16="http://schemas.microsoft.com/office/drawing/2014/main" id="{3BF59661-538A-1BD7-5885-608B9C31C834}"/>
              </a:ext>
            </a:extLst>
          </p:cNvPr>
          <p:cNvSpPr/>
          <p:nvPr/>
        </p:nvSpPr>
        <p:spPr>
          <a:xfrm>
            <a:off x="-1191" y="1244540"/>
            <a:ext cx="5727561" cy="527538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IN" b="1" dirty="0">
                <a:latin typeface="Arial" panose="020B0604020202020204" pitchFamily="34" charset="0"/>
                <a:cs typeface="Arial" panose="020B0604020202020204" pitchFamily="34" charset="0"/>
              </a:rPr>
              <a:t>KPI Dashboard Analysis</a:t>
            </a:r>
          </a:p>
          <a:p>
            <a:r>
              <a:rPr lang="en-US" dirty="0">
                <a:latin typeface="Arial" panose="020B0604020202020204" pitchFamily="34" charset="0"/>
                <a:cs typeface="Arial" panose="020B0604020202020204" pitchFamily="34" charset="0"/>
              </a:rPr>
              <a:t>The KPI dashboard created using </a:t>
            </a:r>
            <a:r>
              <a:rPr lang="en-US" b="1" dirty="0">
                <a:latin typeface="Arial" panose="020B0604020202020204" pitchFamily="34" charset="0"/>
                <a:cs typeface="Arial" panose="020B0604020202020204" pitchFamily="34" charset="0"/>
              </a:rPr>
              <a:t>Microsoft Power BI</a:t>
            </a:r>
            <a:r>
              <a:rPr lang="en-US" dirty="0">
                <a:latin typeface="Arial" panose="020B0604020202020204" pitchFamily="34" charset="0"/>
                <a:cs typeface="Arial" panose="020B0604020202020204" pitchFamily="34" charset="0"/>
              </a:rPr>
              <a:t> provides an overview of the restaurant dataset.</a:t>
            </a:r>
          </a:p>
          <a:p>
            <a:r>
              <a:rPr lang="en-US" dirty="0">
                <a:latin typeface="Arial" panose="020B0604020202020204" pitchFamily="34" charset="0"/>
                <a:cs typeface="Arial" panose="020B0604020202020204" pitchFamily="34" charset="0"/>
              </a:rPr>
              <a:t>Key insights from the dashboard include:</a:t>
            </a:r>
          </a:p>
          <a:p>
            <a:r>
              <a:rPr lang="en-US" dirty="0">
                <a:latin typeface="Arial" panose="020B0604020202020204" pitchFamily="34" charset="0"/>
                <a:cs typeface="Arial" panose="020B0604020202020204" pitchFamily="34" charset="0"/>
              </a:rPr>
              <a:t>• The </a:t>
            </a:r>
            <a:r>
              <a:rPr lang="en-US" b="1" dirty="0">
                <a:latin typeface="Arial" panose="020B0604020202020204" pitchFamily="34" charset="0"/>
                <a:cs typeface="Arial" panose="020B0604020202020204" pitchFamily="34" charset="0"/>
              </a:rPr>
              <a:t>average restaurant rating is 3.95</a:t>
            </a:r>
            <a:r>
              <a:rPr lang="en-US" dirty="0">
                <a:latin typeface="Arial" panose="020B0604020202020204" pitchFamily="34" charset="0"/>
                <a:cs typeface="Arial" panose="020B0604020202020204" pitchFamily="34" charset="0"/>
              </a:rPr>
              <a:t>, indicating overall good customer satisfaction.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The dataset contains </a:t>
            </a:r>
            <a:r>
              <a:rPr lang="en-US" b="1" dirty="0">
                <a:latin typeface="Arial" panose="020B0604020202020204" pitchFamily="34" charset="0"/>
                <a:cs typeface="Arial" panose="020B0604020202020204" pitchFamily="34" charset="0"/>
              </a:rPr>
              <a:t>20 restaurants</a:t>
            </a:r>
            <a:r>
              <a:rPr lang="en-US" dirty="0">
                <a:latin typeface="Arial" panose="020B0604020202020204" pitchFamily="34" charset="0"/>
                <a:cs typeface="Arial" panose="020B0604020202020204" pitchFamily="34" charset="0"/>
              </a:rPr>
              <a:t> available in the selected region.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 total of </a:t>
            </a:r>
            <a:r>
              <a:rPr lang="en-US" b="1" dirty="0">
                <a:latin typeface="Arial" panose="020B0604020202020204" pitchFamily="34" charset="0"/>
                <a:cs typeface="Arial" panose="020B0604020202020204" pitchFamily="34" charset="0"/>
              </a:rPr>
              <a:t>40 different cuisines</a:t>
            </a:r>
            <a:r>
              <a:rPr lang="en-US" dirty="0">
                <a:latin typeface="Arial" panose="020B0604020202020204" pitchFamily="34" charset="0"/>
                <a:cs typeface="Arial" panose="020B0604020202020204" pitchFamily="34" charset="0"/>
              </a:rPr>
              <a:t> are offered by restaurants.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The </a:t>
            </a:r>
            <a:r>
              <a:rPr lang="en-US" b="1" dirty="0">
                <a:latin typeface="Arial" panose="020B0604020202020204" pitchFamily="34" charset="0"/>
                <a:cs typeface="Arial" panose="020B0604020202020204" pitchFamily="34" charset="0"/>
              </a:rPr>
              <a:t>average cost for two people is approximately ₹620</a:t>
            </a:r>
            <a:r>
              <a:rPr lang="en-US" dirty="0">
                <a:latin typeface="Arial" panose="020B0604020202020204" pitchFamily="34" charset="0"/>
                <a:cs typeface="Arial" panose="020B0604020202020204" pitchFamily="34" charset="0"/>
              </a:rPr>
              <a:t>.</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The dashboard also displays the </a:t>
            </a:r>
            <a:r>
              <a:rPr lang="en-US" b="1" dirty="0">
                <a:latin typeface="Arial" panose="020B0604020202020204" pitchFamily="34" charset="0"/>
                <a:cs typeface="Arial" panose="020B0604020202020204" pitchFamily="34" charset="0"/>
              </a:rPr>
              <a:t>top 5 restaurants based on average cost</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Interactive filters allow users to analyze restaurant data by </a:t>
            </a:r>
            <a:r>
              <a:rPr lang="en-US" b="1" dirty="0">
                <a:latin typeface="Arial" panose="020B0604020202020204" pitchFamily="34" charset="0"/>
                <a:cs typeface="Arial" panose="020B0604020202020204" pitchFamily="34" charset="0"/>
              </a:rPr>
              <a:t>city, country, cuisine, and continent</a:t>
            </a:r>
            <a:r>
              <a:rPr lang="en-US" dirty="0">
                <a:latin typeface="Arial" panose="020B0604020202020204" pitchFamily="34" charset="0"/>
                <a:cs typeface="Arial" panose="020B0604020202020204" pitchFamily="34" charset="0"/>
              </a:rPr>
              <a:t>.</a:t>
            </a:r>
          </a:p>
          <a:p>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742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C2D041A-EFB7-19E6-1CD7-749D86E89C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5336" y="700488"/>
            <a:ext cx="6602617" cy="5730457"/>
          </a:xfrm>
          <a:prstGeom prst="rect">
            <a:avLst/>
          </a:prstGeom>
        </p:spPr>
      </p:pic>
      <p:sp>
        <p:nvSpPr>
          <p:cNvPr id="9" name="TextBox 8">
            <a:extLst>
              <a:ext uri="{FF2B5EF4-FFF2-40B4-BE49-F238E27FC236}">
                <a16:creationId xmlns:a16="http://schemas.microsoft.com/office/drawing/2014/main" id="{AF8EB80D-1186-1586-99A3-D91C4E3FCCA7}"/>
              </a:ext>
            </a:extLst>
          </p:cNvPr>
          <p:cNvSpPr txBox="1"/>
          <p:nvPr/>
        </p:nvSpPr>
        <p:spPr>
          <a:xfrm>
            <a:off x="90435" y="1467059"/>
            <a:ext cx="5406013" cy="369332"/>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Restaurant and Service Analysis</a:t>
            </a:r>
          </a:p>
        </p:txBody>
      </p:sp>
      <p:sp>
        <p:nvSpPr>
          <p:cNvPr id="11" name="TextBox 10">
            <a:extLst>
              <a:ext uri="{FF2B5EF4-FFF2-40B4-BE49-F238E27FC236}">
                <a16:creationId xmlns:a16="http://schemas.microsoft.com/office/drawing/2014/main" id="{D007F75D-3948-9418-E94E-7B08CEF05B58}"/>
              </a:ext>
            </a:extLst>
          </p:cNvPr>
          <p:cNvSpPr txBox="1"/>
          <p:nvPr/>
        </p:nvSpPr>
        <p:spPr>
          <a:xfrm>
            <a:off x="90435" y="1836391"/>
            <a:ext cx="5406013" cy="3970318"/>
          </a:xfrm>
          <a:prstGeom prst="rect">
            <a:avLst/>
          </a:prstGeom>
          <a:noFill/>
        </p:spPr>
        <p:txBody>
          <a:bodyPr wrap="square">
            <a:spAutoFit/>
          </a:bodyPr>
          <a:lstStyle/>
          <a:p>
            <a:pPr>
              <a:buNone/>
            </a:pPr>
            <a:r>
              <a:rPr lang="en-US" dirty="0">
                <a:latin typeface="Arial" panose="020B0604020202020204" pitchFamily="34" charset="0"/>
                <a:cs typeface="Arial" panose="020B0604020202020204" pitchFamily="34" charset="0"/>
              </a:rPr>
              <a:t>This dashboard provides detailed information about restaurant services and customer engagement.</a:t>
            </a:r>
          </a:p>
          <a:p>
            <a:pPr>
              <a:buNone/>
            </a:pPr>
            <a:r>
              <a:rPr lang="en-US" dirty="0">
                <a:latin typeface="Arial" panose="020B0604020202020204" pitchFamily="34" charset="0"/>
                <a:cs typeface="Arial" panose="020B0604020202020204" pitchFamily="34" charset="0"/>
              </a:rPr>
              <a:t>Key observations include:</a:t>
            </a:r>
          </a:p>
          <a:p>
            <a:pPr>
              <a:buNone/>
            </a:pPr>
            <a:r>
              <a:rPr lang="en-US" dirty="0">
                <a:latin typeface="Arial" panose="020B0604020202020204" pitchFamily="34" charset="0"/>
                <a:cs typeface="Arial" panose="020B0604020202020204" pitchFamily="34" charset="0"/>
              </a:rPr>
              <a:t>• Most restaurants in the dataset </a:t>
            </a:r>
            <a:r>
              <a:rPr lang="en-US" b="1" dirty="0">
                <a:latin typeface="Arial" panose="020B0604020202020204" pitchFamily="34" charset="0"/>
                <a:cs typeface="Arial" panose="020B0604020202020204" pitchFamily="34" charset="0"/>
              </a:rPr>
              <a:t>do not provide online table booking</a:t>
            </a:r>
            <a:r>
              <a:rPr lang="en-US" dirty="0">
                <a:latin typeface="Arial" panose="020B0604020202020204" pitchFamily="34" charset="0"/>
                <a:cs typeface="Arial" panose="020B0604020202020204" pitchFamily="34" charset="0"/>
              </a:rPr>
              <a:t>.</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Many restaurants </a:t>
            </a:r>
            <a:r>
              <a:rPr lang="en-US" b="1" dirty="0">
                <a:latin typeface="Arial" panose="020B0604020202020204" pitchFamily="34" charset="0"/>
                <a:cs typeface="Arial" panose="020B0604020202020204" pitchFamily="34" charset="0"/>
              </a:rPr>
              <a:t>do not support online delivery services</a:t>
            </a:r>
            <a:r>
              <a:rPr lang="en-US" dirty="0">
                <a:latin typeface="Arial" panose="020B0604020202020204" pitchFamily="34" charset="0"/>
                <a:cs typeface="Arial" panose="020B0604020202020204" pitchFamily="34" charset="0"/>
              </a:rPr>
              <a:t>.</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The </a:t>
            </a:r>
            <a:r>
              <a:rPr lang="en-US" b="1" dirty="0" err="1">
                <a:latin typeface="Arial" panose="020B0604020202020204" pitchFamily="34" charset="0"/>
                <a:cs typeface="Arial" panose="020B0604020202020204" pitchFamily="34" charset="0"/>
              </a:rPr>
              <a:t>treemap</a:t>
            </a:r>
            <a:r>
              <a:rPr lang="en-US" b="1" dirty="0">
                <a:latin typeface="Arial" panose="020B0604020202020204" pitchFamily="34" charset="0"/>
                <a:cs typeface="Arial" panose="020B0604020202020204" pitchFamily="34" charset="0"/>
              </a:rPr>
              <a:t> visualization highlights the top 20 restaurants</a:t>
            </a:r>
            <a:r>
              <a:rPr lang="en-US" dirty="0">
                <a:latin typeface="Arial" panose="020B0604020202020204" pitchFamily="34" charset="0"/>
                <a:cs typeface="Arial" panose="020B0604020202020204" pitchFamily="34" charset="0"/>
              </a:rPr>
              <a:t> based on dataset analysis.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The dashboard also displays </a:t>
            </a:r>
            <a:r>
              <a:rPr lang="en-US" b="1" dirty="0">
                <a:latin typeface="Arial" panose="020B0604020202020204" pitchFamily="34" charset="0"/>
                <a:cs typeface="Arial" panose="020B0604020202020204" pitchFamily="34" charset="0"/>
              </a:rPr>
              <a:t>restaurant currency, locality, and address information</a:t>
            </a:r>
            <a:r>
              <a:rPr lang="en-US" dirty="0">
                <a:latin typeface="Arial" panose="020B0604020202020204" pitchFamily="34" charset="0"/>
                <a:cs typeface="Arial" panose="020B0604020202020204" pitchFamily="34" charset="0"/>
              </a:rPr>
              <a:t>.</a:t>
            </a:r>
          </a:p>
          <a:p>
            <a:pPr>
              <a:buNone/>
            </a:pPr>
            <a:r>
              <a:rPr lang="en-US" dirty="0">
                <a:latin typeface="Arial" panose="020B0604020202020204" pitchFamily="34" charset="0"/>
                <a:cs typeface="Arial" panose="020B0604020202020204" pitchFamily="34" charset="0"/>
              </a:rPr>
              <a:t>Filters allow users to explore restaurant information based on </a:t>
            </a:r>
            <a:r>
              <a:rPr lang="en-US" b="1" dirty="0">
                <a:latin typeface="Arial" panose="020B0604020202020204" pitchFamily="34" charset="0"/>
                <a:cs typeface="Arial" panose="020B0604020202020204" pitchFamily="34" charset="0"/>
              </a:rPr>
              <a:t>continent, country, city, and restaurant name</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632714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8CC6A6-C35D-E400-7410-E3A235CCD9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6303" y="753626"/>
            <a:ext cx="6725697" cy="5526594"/>
          </a:xfrm>
          <a:prstGeom prst="rect">
            <a:avLst/>
          </a:prstGeom>
        </p:spPr>
      </p:pic>
      <p:sp>
        <p:nvSpPr>
          <p:cNvPr id="6" name="TextBox 5">
            <a:extLst>
              <a:ext uri="{FF2B5EF4-FFF2-40B4-BE49-F238E27FC236}">
                <a16:creationId xmlns:a16="http://schemas.microsoft.com/office/drawing/2014/main" id="{0B4CC12C-8BE7-31CB-DBAE-818918069106}"/>
              </a:ext>
            </a:extLst>
          </p:cNvPr>
          <p:cNvSpPr txBox="1"/>
          <p:nvPr/>
        </p:nvSpPr>
        <p:spPr>
          <a:xfrm>
            <a:off x="80387" y="1698172"/>
            <a:ext cx="5215094" cy="400110"/>
          </a:xfrm>
          <a:prstGeom prst="rect">
            <a:avLst/>
          </a:prstGeom>
          <a:noFill/>
        </p:spPr>
        <p:txBody>
          <a:bodyPr wrap="square" rtlCol="0">
            <a:spAutoFit/>
          </a:bodyPr>
          <a:lstStyle/>
          <a:p>
            <a:r>
              <a:rPr lang="en-IN" sz="2000" b="1" dirty="0">
                <a:latin typeface="Arial" panose="020B0604020202020204" pitchFamily="34" charset="0"/>
                <a:cs typeface="Arial" panose="020B0604020202020204" pitchFamily="34" charset="0"/>
              </a:rPr>
              <a:t>Geographical Distribution of Restaurants</a:t>
            </a:r>
          </a:p>
        </p:txBody>
      </p:sp>
      <p:sp>
        <p:nvSpPr>
          <p:cNvPr id="8" name="TextBox 7">
            <a:extLst>
              <a:ext uri="{FF2B5EF4-FFF2-40B4-BE49-F238E27FC236}">
                <a16:creationId xmlns:a16="http://schemas.microsoft.com/office/drawing/2014/main" id="{F3D80AE2-9EFB-EF91-9B23-C324F0E4C5AE}"/>
              </a:ext>
            </a:extLst>
          </p:cNvPr>
          <p:cNvSpPr txBox="1"/>
          <p:nvPr/>
        </p:nvSpPr>
        <p:spPr>
          <a:xfrm>
            <a:off x="80387" y="2303979"/>
            <a:ext cx="5464627" cy="3139321"/>
          </a:xfrm>
          <a:prstGeom prst="rect">
            <a:avLst/>
          </a:prstGeom>
          <a:noFill/>
        </p:spPr>
        <p:txBody>
          <a:bodyPr wrap="square">
            <a:spAutoFit/>
          </a:bodyPr>
          <a:lstStyle/>
          <a:p>
            <a:pPr>
              <a:buNone/>
            </a:pPr>
            <a:r>
              <a:rPr lang="en-US" dirty="0">
                <a:latin typeface="Arial" panose="020B0604020202020204" pitchFamily="34" charset="0"/>
                <a:cs typeface="Arial" panose="020B0604020202020204" pitchFamily="34" charset="0"/>
              </a:rPr>
              <a:t>The map visualization shows the geographical distribution of restaurants across different regions.</a:t>
            </a:r>
          </a:p>
          <a:p>
            <a:pPr>
              <a:buNone/>
            </a:pPr>
            <a:r>
              <a:rPr lang="en-US" dirty="0">
                <a:latin typeface="Arial" panose="020B0604020202020204" pitchFamily="34" charset="0"/>
                <a:cs typeface="Arial" panose="020B0604020202020204" pitchFamily="34" charset="0"/>
              </a:rPr>
              <a:t>Key insights include:</a:t>
            </a:r>
          </a:p>
          <a:p>
            <a:pPr>
              <a:buNone/>
            </a:pPr>
            <a:r>
              <a:rPr lang="en-US" dirty="0">
                <a:latin typeface="Arial" panose="020B0604020202020204" pitchFamily="34" charset="0"/>
                <a:cs typeface="Arial" panose="020B0604020202020204" pitchFamily="34" charset="0"/>
              </a:rPr>
              <a:t>• Restaurants are mainly located in </a:t>
            </a:r>
            <a:r>
              <a:rPr lang="en-US" b="1" dirty="0">
                <a:latin typeface="Arial" panose="020B0604020202020204" pitchFamily="34" charset="0"/>
                <a:cs typeface="Arial" panose="020B0604020202020204" pitchFamily="34" charset="0"/>
              </a:rPr>
              <a:t>Asia</a:t>
            </a:r>
            <a:r>
              <a:rPr lang="en-US" dirty="0">
                <a:latin typeface="Arial" panose="020B0604020202020204" pitchFamily="34" charset="0"/>
                <a:cs typeface="Arial" panose="020B0604020202020204" pitchFamily="34" charset="0"/>
              </a:rPr>
              <a:t>, particularly in </a:t>
            </a:r>
            <a:r>
              <a:rPr lang="en-US" b="1" dirty="0">
                <a:latin typeface="Arial" panose="020B0604020202020204" pitchFamily="34" charset="0"/>
                <a:cs typeface="Arial" panose="020B0604020202020204" pitchFamily="34" charset="0"/>
              </a:rPr>
              <a:t>India</a:t>
            </a:r>
            <a:r>
              <a:rPr lang="en-US" dirty="0">
                <a:latin typeface="Arial" panose="020B0604020202020204" pitchFamily="34" charset="0"/>
                <a:cs typeface="Arial" panose="020B0604020202020204" pitchFamily="34" charset="0"/>
              </a:rPr>
              <a:t>.</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The map visualizations help identify </a:t>
            </a:r>
            <a:r>
              <a:rPr lang="en-US" b="1" dirty="0">
                <a:latin typeface="Arial" panose="020B0604020202020204" pitchFamily="34" charset="0"/>
                <a:cs typeface="Arial" panose="020B0604020202020204" pitchFamily="34" charset="0"/>
              </a:rPr>
              <a:t>restaurant presence by continent, country, and city</a:t>
            </a:r>
            <a:r>
              <a:rPr lang="en-US" dirty="0">
                <a:latin typeface="Arial" panose="020B0604020202020204" pitchFamily="34" charset="0"/>
                <a:cs typeface="Arial" panose="020B0604020202020204" pitchFamily="34" charset="0"/>
              </a:rPr>
              <a:t>.</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Users can interact with the map to explore restaurant locations and distribution patterns.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Geographic insights help understand </a:t>
            </a:r>
            <a:r>
              <a:rPr lang="en-US" b="1" dirty="0">
                <a:latin typeface="Arial" panose="020B0604020202020204" pitchFamily="34" charset="0"/>
                <a:cs typeface="Arial" panose="020B0604020202020204" pitchFamily="34" charset="0"/>
              </a:rPr>
              <a:t>market concentration and regional restaurant trends</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868622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0AB6B65-20E8-8180-5A75-AC88BB9FEAFC}"/>
              </a:ext>
            </a:extLst>
          </p:cNvPr>
          <p:cNvSpPr>
            <a:spLocks noGrp="1"/>
          </p:cNvSpPr>
          <p:nvPr>
            <p:ph type="subTitle" idx="1"/>
          </p:nvPr>
        </p:nvSpPr>
        <p:spPr>
          <a:xfrm>
            <a:off x="110531" y="793820"/>
            <a:ext cx="11796765" cy="5727560"/>
          </a:xfrm>
        </p:spPr>
        <p:txBody>
          <a:bodyPr/>
          <a:lstStyle/>
          <a:p>
            <a:pPr algn="l"/>
            <a:r>
              <a:rPr lang="en-IN" sz="3600" b="1" dirty="0">
                <a:latin typeface="Arial" panose="020B0604020202020204" pitchFamily="34" charset="0"/>
                <a:cs typeface="Arial" panose="020B0604020202020204" pitchFamily="34" charset="0"/>
              </a:rPr>
              <a:t>Final Result</a:t>
            </a:r>
          </a:p>
          <a:p>
            <a:pPr algn="l"/>
            <a:endParaRPr lang="en-IN" sz="2000" b="1" dirty="0">
              <a:latin typeface="Arial" panose="020B0604020202020204" pitchFamily="34" charset="0"/>
              <a:cs typeface="Arial" panose="020B0604020202020204" pitchFamily="34" charset="0"/>
            </a:endParaRPr>
          </a:p>
          <a:p>
            <a:pPr algn="l"/>
            <a:r>
              <a:rPr lang="en-US" sz="2000" dirty="0">
                <a:latin typeface="Arial" panose="020B0604020202020204" pitchFamily="34" charset="0"/>
                <a:cs typeface="Arial" panose="020B0604020202020204" pitchFamily="34" charset="0"/>
              </a:rPr>
              <a:t>The project successfully analyzed the Zomato restaurant dataset using </a:t>
            </a:r>
            <a:r>
              <a:rPr lang="en-US" sz="2000" b="1" dirty="0">
                <a:latin typeface="Arial" panose="020B0604020202020204" pitchFamily="34" charset="0"/>
                <a:cs typeface="Arial" panose="020B0604020202020204" pitchFamily="34" charset="0"/>
              </a:rPr>
              <a:t>Microsoft Power BI</a:t>
            </a:r>
            <a:r>
              <a:rPr lang="en-US" sz="2000" dirty="0">
                <a:latin typeface="Arial" panose="020B0604020202020204" pitchFamily="34" charset="0"/>
                <a:cs typeface="Arial" panose="020B0604020202020204" pitchFamily="34" charset="0"/>
              </a:rPr>
              <a:t> and developed an interactive dashboard to visualize restaurant data.</a:t>
            </a:r>
          </a:p>
          <a:p>
            <a:pPr algn="l"/>
            <a:r>
              <a:rPr lang="en-US" sz="2000" dirty="0">
                <a:latin typeface="Arial" panose="020B0604020202020204" pitchFamily="34" charset="0"/>
                <a:cs typeface="Arial" panose="020B0604020202020204" pitchFamily="34" charset="0"/>
              </a:rPr>
              <a:t>The dashboard provides insights into </a:t>
            </a:r>
            <a:r>
              <a:rPr lang="en-US" sz="2000" b="1" dirty="0">
                <a:latin typeface="Arial" panose="020B0604020202020204" pitchFamily="34" charset="0"/>
                <a:cs typeface="Arial" panose="020B0604020202020204" pitchFamily="34" charset="0"/>
              </a:rPr>
              <a:t>restaurant ratings, cuisines, pricing trends, and geographical distribution</a:t>
            </a:r>
            <a:r>
              <a:rPr lang="en-US" sz="2000" dirty="0">
                <a:latin typeface="Arial" panose="020B0604020202020204" pitchFamily="34" charset="0"/>
                <a:cs typeface="Arial" panose="020B0604020202020204" pitchFamily="34" charset="0"/>
              </a:rPr>
              <a:t>.</a:t>
            </a:r>
          </a:p>
          <a:p>
            <a:pPr algn="l"/>
            <a:r>
              <a:rPr lang="en-US" sz="2000" dirty="0">
                <a:latin typeface="Arial" panose="020B0604020202020204" pitchFamily="34" charset="0"/>
                <a:cs typeface="Arial" panose="020B0604020202020204" pitchFamily="34" charset="0"/>
              </a:rPr>
              <a:t>Key outcomes of the project include:</a:t>
            </a:r>
          </a:p>
          <a:p>
            <a:pPr algn="l"/>
            <a:r>
              <a:rPr lang="en-US" sz="2000" dirty="0">
                <a:latin typeface="Arial" panose="020B0604020202020204" pitchFamily="34" charset="0"/>
                <a:cs typeface="Arial" panose="020B0604020202020204" pitchFamily="34" charset="0"/>
              </a:rPr>
              <a:t>• Identification of restaurant distribution across cities and regions.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Analysis of customer ratings and pricing patterns.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Visualization of popular cuisines and restaurant services.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 Interactive dashboards that allow users to filter and explore data easily.</a:t>
            </a:r>
          </a:p>
          <a:p>
            <a:pPr algn="l"/>
            <a:r>
              <a:rPr lang="en-US" sz="2000" dirty="0">
                <a:latin typeface="Arial" panose="020B0604020202020204" pitchFamily="34" charset="0"/>
                <a:cs typeface="Arial" panose="020B0604020202020204" pitchFamily="34" charset="0"/>
              </a:rPr>
              <a:t>The developed Power BI dashboard transforms raw restaurant data into </a:t>
            </a:r>
            <a:r>
              <a:rPr lang="en-US" sz="2000" b="1" dirty="0">
                <a:latin typeface="Arial" panose="020B0604020202020204" pitchFamily="34" charset="0"/>
                <a:cs typeface="Arial" panose="020B0604020202020204" pitchFamily="34" charset="0"/>
              </a:rPr>
              <a:t>meaningful insights that support better decision-making and data analysis</a:t>
            </a:r>
            <a:endParaRPr lang="en-US" sz="2000" dirty="0">
              <a:latin typeface="Arial" panose="020B0604020202020204" pitchFamily="34" charset="0"/>
              <a:cs typeface="Arial" panose="020B0604020202020204" pitchFamily="34" charset="0"/>
            </a:endParaRPr>
          </a:p>
          <a:p>
            <a:pPr algn="l"/>
            <a:endParaRPr lang="en-I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9959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170821" y="1487156"/>
            <a:ext cx="11575701" cy="4672484"/>
          </a:xfrm>
        </p:spPr>
        <p:txBody>
          <a:bodyPr vert="horz" lIns="91440" tIns="45720" rIns="91440" bIns="45720" rtlCol="0">
            <a:noAutofit/>
          </a:bodyPr>
          <a:lstStyle/>
          <a:p>
            <a:pPr marL="0" indent="0">
              <a:buNone/>
            </a:pPr>
            <a:r>
              <a:rPr lang="en-US" sz="1800" dirty="0">
                <a:latin typeface="Arial" panose="020B0604020202020204" pitchFamily="34" charset="0"/>
                <a:cs typeface="Arial" panose="020B0604020202020204" pitchFamily="34" charset="0"/>
              </a:rPr>
              <a:t>This project successfully analyzed the Zomato restaurant dataset and developed an interactive dashboard using </a:t>
            </a:r>
            <a:r>
              <a:rPr lang="en-US" sz="1800" b="1" dirty="0">
                <a:latin typeface="Arial" panose="020B0604020202020204" pitchFamily="34" charset="0"/>
                <a:cs typeface="Arial" panose="020B0604020202020204" pitchFamily="34" charset="0"/>
              </a:rPr>
              <a:t>Microsoft Power BI</a:t>
            </a:r>
            <a:r>
              <a:rPr lang="en-US" sz="1800" dirty="0">
                <a:latin typeface="Arial" panose="020B0604020202020204" pitchFamily="34" charset="0"/>
                <a:cs typeface="Arial" panose="020B0604020202020204" pitchFamily="34" charset="0"/>
              </a:rPr>
              <a:t>.</a:t>
            </a:r>
          </a:p>
          <a:p>
            <a:pPr marL="0" indent="0">
              <a:buNone/>
            </a:pPr>
            <a:r>
              <a:rPr lang="en-US" sz="1800" dirty="0">
                <a:latin typeface="Arial" panose="020B0604020202020204" pitchFamily="34" charset="0"/>
                <a:cs typeface="Arial" panose="020B0604020202020204" pitchFamily="34" charset="0"/>
              </a:rPr>
              <a:t>Through data cleaning, transformation, and visualization, the project converted raw restaurant data into meaningful insights that help understand restaurant performance and customer preferences.</a:t>
            </a:r>
          </a:p>
          <a:p>
            <a:pPr marL="0" indent="0">
              <a:buNone/>
            </a:pPr>
            <a:r>
              <a:rPr lang="en-US" sz="2400" b="1" dirty="0">
                <a:latin typeface="Arial" panose="020B0604020202020204" pitchFamily="34" charset="0"/>
                <a:cs typeface="Arial" panose="020B0604020202020204" pitchFamily="34" charset="0"/>
              </a:rPr>
              <a:t>Key Conclusions</a:t>
            </a:r>
          </a:p>
          <a:p>
            <a:pPr marL="0" indent="0">
              <a:buNone/>
            </a:pPr>
            <a:r>
              <a:rPr lang="en-US" sz="1800" dirty="0">
                <a:latin typeface="Arial" panose="020B0604020202020204" pitchFamily="34" charset="0"/>
                <a:cs typeface="Arial" panose="020B0604020202020204" pitchFamily="34" charset="0"/>
              </a:rPr>
              <a:t>• The analysis identified important trends in </a:t>
            </a:r>
            <a:r>
              <a:rPr lang="en-US" sz="1800" b="1" dirty="0">
                <a:latin typeface="Arial" panose="020B0604020202020204" pitchFamily="34" charset="0"/>
                <a:cs typeface="Arial" panose="020B0604020202020204" pitchFamily="34" charset="0"/>
              </a:rPr>
              <a:t>restaurant ratings, cuisines, pricing, and location distribution</a:t>
            </a:r>
            <a:r>
              <a:rPr lang="en-US" sz="1800" dirty="0">
                <a:latin typeface="Arial" panose="020B0604020202020204" pitchFamily="34" charset="0"/>
                <a:cs typeface="Arial" panose="020B0604020202020204" pitchFamily="34" charset="0"/>
              </a:rPr>
              <a:t>.</a:t>
            </a:r>
          </a:p>
          <a:p>
            <a:pPr marL="0" indent="0">
              <a:buNone/>
            </a:pPr>
            <a:r>
              <a:rPr lang="en-US" sz="1800" dirty="0">
                <a:latin typeface="Arial" panose="020B0604020202020204" pitchFamily="34" charset="0"/>
                <a:cs typeface="Arial" panose="020B0604020202020204" pitchFamily="34" charset="0"/>
              </a:rPr>
              <a:t>• Interactive dashboards allow users to explore data dynamically using filters such as </a:t>
            </a:r>
            <a:r>
              <a:rPr lang="en-US" sz="1800" b="1" dirty="0">
                <a:latin typeface="Arial" panose="020B0604020202020204" pitchFamily="34" charset="0"/>
                <a:cs typeface="Arial" panose="020B0604020202020204" pitchFamily="34" charset="0"/>
              </a:rPr>
              <a:t>city, country, cuisine, and restaurant name</a:t>
            </a:r>
            <a:r>
              <a:rPr lang="en-US" sz="1800" dirty="0">
                <a:latin typeface="Arial" panose="020B0604020202020204" pitchFamily="34" charset="0"/>
                <a:cs typeface="Arial" panose="020B0604020202020204" pitchFamily="34" charset="0"/>
              </a:rPr>
              <a:t>.</a:t>
            </a:r>
          </a:p>
          <a:p>
            <a:pPr marL="0" indent="0">
              <a:buNone/>
            </a:pPr>
            <a:r>
              <a:rPr lang="en-US" sz="1800" dirty="0">
                <a:latin typeface="Arial" panose="020B0604020202020204" pitchFamily="34" charset="0"/>
                <a:cs typeface="Arial" panose="020B0604020202020204" pitchFamily="34" charset="0"/>
              </a:rPr>
              <a:t>• The visualization helps highlight </a:t>
            </a:r>
            <a:r>
              <a:rPr lang="en-US" sz="1800" b="1" dirty="0">
                <a:latin typeface="Arial" panose="020B0604020202020204" pitchFamily="34" charset="0"/>
                <a:cs typeface="Arial" panose="020B0604020202020204" pitchFamily="34" charset="0"/>
              </a:rPr>
              <a:t>popular cuisines, restaurant pricing patterns, and customer rating trends</a:t>
            </a:r>
            <a:r>
              <a:rPr lang="en-US" sz="1800" dirty="0">
                <a:latin typeface="Arial" panose="020B0604020202020204" pitchFamily="34" charset="0"/>
                <a:cs typeface="Arial" panose="020B0604020202020204" pitchFamily="34" charset="0"/>
              </a:rPr>
              <a:t>.</a:t>
            </a:r>
          </a:p>
          <a:p>
            <a:pPr marL="0" indent="0">
              <a:buNone/>
            </a:pPr>
            <a:r>
              <a:rPr lang="en-US" sz="1800" dirty="0">
                <a:latin typeface="Arial" panose="020B0604020202020204" pitchFamily="34" charset="0"/>
                <a:cs typeface="Arial" panose="020B0604020202020204" pitchFamily="34" charset="0"/>
              </a:rPr>
              <a:t>• Map-based visualizations provide insights into the </a:t>
            </a:r>
            <a:r>
              <a:rPr lang="en-US" sz="1800" b="1" dirty="0">
                <a:latin typeface="Arial" panose="020B0604020202020204" pitchFamily="34" charset="0"/>
                <a:cs typeface="Arial" panose="020B0604020202020204" pitchFamily="34" charset="0"/>
              </a:rPr>
              <a:t>geographical distribution of restaurants</a:t>
            </a:r>
            <a:r>
              <a:rPr lang="en-US" sz="1800" dirty="0">
                <a:latin typeface="Arial" panose="020B0604020202020204" pitchFamily="34" charset="0"/>
                <a:cs typeface="Arial" panose="020B0604020202020204" pitchFamily="34" charset="0"/>
              </a:rPr>
              <a:t>.</a:t>
            </a:r>
          </a:p>
          <a:p>
            <a:pPr marL="0" indent="0">
              <a:buNone/>
            </a:pPr>
            <a:r>
              <a:rPr lang="en-US" sz="2400" b="1" dirty="0">
                <a:latin typeface="Arial" panose="020B0604020202020204" pitchFamily="34" charset="0"/>
                <a:cs typeface="Arial" panose="020B0604020202020204" pitchFamily="34" charset="0"/>
              </a:rPr>
              <a:t>Overall Outcome</a:t>
            </a:r>
          </a:p>
          <a:p>
            <a:pPr marL="0" indent="0">
              <a:buNone/>
            </a:pPr>
            <a:r>
              <a:rPr lang="en-US" sz="1800" dirty="0">
                <a:latin typeface="Arial" panose="020B0604020202020204" pitchFamily="34" charset="0"/>
                <a:cs typeface="Arial" panose="020B0604020202020204" pitchFamily="34" charset="0"/>
              </a:rPr>
              <a:t>The project demonstrates how </a:t>
            </a:r>
            <a:r>
              <a:rPr lang="en-US" sz="1800" b="1" dirty="0">
                <a:latin typeface="Arial" panose="020B0604020202020204" pitchFamily="34" charset="0"/>
                <a:cs typeface="Arial" panose="020B0604020202020204" pitchFamily="34" charset="0"/>
              </a:rPr>
              <a:t>business intelligence tools like Power BI</a:t>
            </a:r>
            <a:r>
              <a:rPr lang="en-US" sz="1800" dirty="0">
                <a:latin typeface="Arial" panose="020B0604020202020204" pitchFamily="34" charset="0"/>
                <a:cs typeface="Arial" panose="020B0604020202020204" pitchFamily="34" charset="0"/>
              </a:rPr>
              <a:t> can transform large datasets into </a:t>
            </a:r>
            <a:r>
              <a:rPr lang="en-US" sz="1800" b="1" dirty="0">
                <a:latin typeface="Arial" panose="020B0604020202020204" pitchFamily="34" charset="0"/>
                <a:cs typeface="Arial" panose="020B0604020202020204" pitchFamily="34" charset="0"/>
              </a:rPr>
              <a:t>clear and actionable insights</a:t>
            </a:r>
            <a:r>
              <a:rPr lang="en-US" sz="1800" dirty="0">
                <a:latin typeface="Arial" panose="020B0604020202020204" pitchFamily="34" charset="0"/>
                <a:cs typeface="Arial" panose="020B0604020202020204" pitchFamily="34" charset="0"/>
              </a:rPr>
              <a:t>, enabling better decision-making and understanding of restaurant market trends.</a:t>
            </a:r>
          </a:p>
        </p:txBody>
      </p:sp>
    </p:spTree>
    <p:extLst>
      <p:ext uri="{BB962C8B-B14F-4D97-AF65-F5344CB8AC3E}">
        <p14:creationId xmlns:p14="http://schemas.microsoft.com/office/powerpoint/2010/main" val="2245309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0" y="1304433"/>
            <a:ext cx="11729662" cy="5237044"/>
          </a:xfrm>
        </p:spPr>
        <p:txBody>
          <a:bodyPr vert="horz" lIns="91440" tIns="45720" rIns="91440" bIns="45720" rtlCol="0">
            <a:normAutofit fontScale="77500" lnSpcReduction="20000"/>
          </a:bodyPr>
          <a:lstStyle/>
          <a:p>
            <a:pPr marL="0" indent="0">
              <a:buNone/>
            </a:pPr>
            <a:r>
              <a:rPr lang="en-US" sz="2400" dirty="0">
                <a:latin typeface="Arial" panose="020B0604020202020204" pitchFamily="34" charset="0"/>
                <a:cs typeface="Arial" panose="020B0604020202020204" pitchFamily="34" charset="0"/>
              </a:rPr>
              <a:t>The current project focuses on analyzing restaurant data and visualizing insights using </a:t>
            </a:r>
            <a:r>
              <a:rPr lang="en-US" sz="2400" b="1" dirty="0">
                <a:latin typeface="Arial" panose="020B0604020202020204" pitchFamily="34" charset="0"/>
                <a:cs typeface="Arial" panose="020B0604020202020204" pitchFamily="34" charset="0"/>
              </a:rPr>
              <a:t>Microsoft Power BI</a:t>
            </a:r>
            <a:r>
              <a:rPr lang="en-US" sz="2400" dirty="0">
                <a:latin typeface="Arial" panose="020B0604020202020204" pitchFamily="34" charset="0"/>
                <a:cs typeface="Arial" panose="020B0604020202020204" pitchFamily="34" charset="0"/>
              </a:rPr>
              <a:t>. In the future, the system can be enhanced with advanced analytics and additional data sources.</a:t>
            </a:r>
          </a:p>
          <a:p>
            <a:pPr marL="0" indent="0">
              <a:buNone/>
            </a:pPr>
            <a:r>
              <a:rPr lang="en-US" sz="3100" b="1" dirty="0">
                <a:latin typeface="Arial" panose="020B0604020202020204" pitchFamily="34" charset="0"/>
                <a:cs typeface="Arial" panose="020B0604020202020204" pitchFamily="34" charset="0"/>
              </a:rPr>
              <a:t>Possible Improvements</a:t>
            </a:r>
          </a:p>
          <a:p>
            <a:pPr marL="0" indent="0">
              <a:buNone/>
            </a:pPr>
            <a:r>
              <a:rPr lang="en-US" sz="2300" b="1" dirty="0">
                <a:latin typeface="Arial" panose="020B0604020202020204" pitchFamily="34" charset="0"/>
                <a:cs typeface="Arial" panose="020B0604020202020204" pitchFamily="34" charset="0"/>
              </a:rPr>
              <a:t>1. Real-Time Data Integration</a:t>
            </a:r>
            <a:br>
              <a:rPr lang="en-US" sz="2300" dirty="0">
                <a:latin typeface="Arial" panose="020B0604020202020204" pitchFamily="34" charset="0"/>
                <a:cs typeface="Arial" panose="020B0604020202020204" pitchFamily="34" charset="0"/>
              </a:rPr>
            </a:br>
            <a:r>
              <a:rPr lang="en-US" sz="2300" dirty="0">
                <a:latin typeface="Arial" panose="020B0604020202020204" pitchFamily="34" charset="0"/>
                <a:cs typeface="Arial" panose="020B0604020202020204" pitchFamily="34" charset="0"/>
              </a:rPr>
              <a:t>The dashboard can be connected to live restaurant data to provide </a:t>
            </a:r>
            <a:r>
              <a:rPr lang="en-US" sz="2300" b="1" dirty="0">
                <a:latin typeface="Arial" panose="020B0604020202020204" pitchFamily="34" charset="0"/>
                <a:cs typeface="Arial" panose="020B0604020202020204" pitchFamily="34" charset="0"/>
              </a:rPr>
              <a:t>real-time updates</a:t>
            </a:r>
            <a:r>
              <a:rPr lang="en-US" sz="2300" dirty="0">
                <a:latin typeface="Arial" panose="020B0604020202020204" pitchFamily="34" charset="0"/>
                <a:cs typeface="Arial" panose="020B0604020202020204" pitchFamily="34" charset="0"/>
              </a:rPr>
              <a:t> on ratings, prices, and restaurant availability.</a:t>
            </a:r>
          </a:p>
          <a:p>
            <a:pPr marL="0" indent="0">
              <a:buNone/>
            </a:pPr>
            <a:r>
              <a:rPr lang="en-US" sz="2300" b="1" dirty="0">
                <a:latin typeface="Arial" panose="020B0604020202020204" pitchFamily="34" charset="0"/>
                <a:cs typeface="Arial" panose="020B0604020202020204" pitchFamily="34" charset="0"/>
              </a:rPr>
              <a:t>2. Predictive Analytics</a:t>
            </a:r>
            <a:br>
              <a:rPr lang="en-US" sz="2300" dirty="0">
                <a:latin typeface="Arial" panose="020B0604020202020204" pitchFamily="34" charset="0"/>
                <a:cs typeface="Arial" panose="020B0604020202020204" pitchFamily="34" charset="0"/>
              </a:rPr>
            </a:br>
            <a:r>
              <a:rPr lang="en-US" sz="2300" dirty="0">
                <a:latin typeface="Arial" panose="020B0604020202020204" pitchFamily="34" charset="0"/>
                <a:cs typeface="Arial" panose="020B0604020202020204" pitchFamily="34" charset="0"/>
              </a:rPr>
              <a:t>Machine learning models can be integrated to </a:t>
            </a:r>
            <a:r>
              <a:rPr lang="en-US" sz="2300" b="1" dirty="0">
                <a:latin typeface="Arial" panose="020B0604020202020204" pitchFamily="34" charset="0"/>
                <a:cs typeface="Arial" panose="020B0604020202020204" pitchFamily="34" charset="0"/>
              </a:rPr>
              <a:t>predict restaurant popularity, customer demand, and future rating trends</a:t>
            </a:r>
            <a:r>
              <a:rPr lang="en-US" sz="2300" dirty="0">
                <a:latin typeface="Arial" panose="020B0604020202020204" pitchFamily="34" charset="0"/>
                <a:cs typeface="Arial" panose="020B0604020202020204" pitchFamily="34" charset="0"/>
              </a:rPr>
              <a:t>.</a:t>
            </a:r>
          </a:p>
          <a:p>
            <a:pPr marL="0" indent="0">
              <a:buNone/>
            </a:pPr>
            <a:r>
              <a:rPr lang="en-US" sz="2300" b="1" dirty="0">
                <a:latin typeface="Arial" panose="020B0604020202020204" pitchFamily="34" charset="0"/>
                <a:cs typeface="Arial" panose="020B0604020202020204" pitchFamily="34" charset="0"/>
              </a:rPr>
              <a:t>3. Customer Sentiment Analysis</a:t>
            </a:r>
            <a:br>
              <a:rPr lang="en-US" sz="2300" dirty="0">
                <a:latin typeface="Arial" panose="020B0604020202020204" pitchFamily="34" charset="0"/>
                <a:cs typeface="Arial" panose="020B0604020202020204" pitchFamily="34" charset="0"/>
              </a:rPr>
            </a:br>
            <a:r>
              <a:rPr lang="en-US" sz="2300" dirty="0">
                <a:latin typeface="Arial" panose="020B0604020202020204" pitchFamily="34" charset="0"/>
                <a:cs typeface="Arial" panose="020B0604020202020204" pitchFamily="34" charset="0"/>
              </a:rPr>
              <a:t>Customer reviews can be analyzed using </a:t>
            </a:r>
            <a:r>
              <a:rPr lang="en-US" sz="2300" b="1" dirty="0">
                <a:latin typeface="Arial" panose="020B0604020202020204" pitchFamily="34" charset="0"/>
                <a:cs typeface="Arial" panose="020B0604020202020204" pitchFamily="34" charset="0"/>
              </a:rPr>
              <a:t>Natural Language Processing (NLP)</a:t>
            </a:r>
            <a:r>
              <a:rPr lang="en-US" sz="2300" dirty="0">
                <a:latin typeface="Arial" panose="020B0604020202020204" pitchFamily="34" charset="0"/>
                <a:cs typeface="Arial" panose="020B0604020202020204" pitchFamily="34" charset="0"/>
              </a:rPr>
              <a:t> to understand customer satisfaction and feedback.</a:t>
            </a:r>
          </a:p>
          <a:p>
            <a:pPr marL="0" indent="0">
              <a:buNone/>
            </a:pPr>
            <a:r>
              <a:rPr lang="en-US" sz="2300" b="1" dirty="0">
                <a:latin typeface="Arial" panose="020B0604020202020204" pitchFamily="34" charset="0"/>
                <a:cs typeface="Arial" panose="020B0604020202020204" pitchFamily="34" charset="0"/>
              </a:rPr>
              <a:t>4. Mobile Dashboard Access</a:t>
            </a:r>
            <a:br>
              <a:rPr lang="en-US" sz="2300" dirty="0">
                <a:latin typeface="Arial" panose="020B0604020202020204" pitchFamily="34" charset="0"/>
                <a:cs typeface="Arial" panose="020B0604020202020204" pitchFamily="34" charset="0"/>
              </a:rPr>
            </a:br>
            <a:r>
              <a:rPr lang="en-US" sz="2300" dirty="0">
                <a:latin typeface="Arial" panose="020B0604020202020204" pitchFamily="34" charset="0"/>
                <a:cs typeface="Arial" panose="020B0604020202020204" pitchFamily="34" charset="0"/>
              </a:rPr>
              <a:t>The dashboard can be optimized for </a:t>
            </a:r>
            <a:r>
              <a:rPr lang="en-US" sz="2300" b="1" dirty="0">
                <a:latin typeface="Arial" panose="020B0604020202020204" pitchFamily="34" charset="0"/>
                <a:cs typeface="Arial" panose="020B0604020202020204" pitchFamily="34" charset="0"/>
              </a:rPr>
              <a:t>mobile devices</a:t>
            </a:r>
            <a:r>
              <a:rPr lang="en-US" sz="2300" dirty="0">
                <a:latin typeface="Arial" panose="020B0604020202020204" pitchFamily="34" charset="0"/>
                <a:cs typeface="Arial" panose="020B0604020202020204" pitchFamily="34" charset="0"/>
              </a:rPr>
              <a:t> so users can access restaurant insights anytime.</a:t>
            </a:r>
          </a:p>
          <a:p>
            <a:pPr marL="0" indent="0">
              <a:buNone/>
            </a:pPr>
            <a:r>
              <a:rPr lang="en-US" sz="2300" b="1" dirty="0">
                <a:latin typeface="Arial" panose="020B0604020202020204" pitchFamily="34" charset="0"/>
                <a:cs typeface="Arial" panose="020B0604020202020204" pitchFamily="34" charset="0"/>
              </a:rPr>
              <a:t>5. Expanded Dataset</a:t>
            </a:r>
            <a:br>
              <a:rPr lang="en-US" sz="2300" dirty="0">
                <a:latin typeface="Arial" panose="020B0604020202020204" pitchFamily="34" charset="0"/>
                <a:cs typeface="Arial" panose="020B0604020202020204" pitchFamily="34" charset="0"/>
              </a:rPr>
            </a:br>
            <a:r>
              <a:rPr lang="en-US" sz="2300" dirty="0">
                <a:latin typeface="Arial" panose="020B0604020202020204" pitchFamily="34" charset="0"/>
                <a:cs typeface="Arial" panose="020B0604020202020204" pitchFamily="34" charset="0"/>
              </a:rPr>
              <a:t>More cities, restaurants, and additional attributes such as </a:t>
            </a:r>
            <a:r>
              <a:rPr lang="en-US" sz="2300" b="1" dirty="0">
                <a:latin typeface="Arial" panose="020B0604020202020204" pitchFamily="34" charset="0"/>
                <a:cs typeface="Arial" panose="020B0604020202020204" pitchFamily="34" charset="0"/>
              </a:rPr>
              <a:t>customer reviews, delivery time, and service quality</a:t>
            </a:r>
            <a:r>
              <a:rPr lang="en-US" sz="2300" dirty="0">
                <a:latin typeface="Arial" panose="020B0604020202020204" pitchFamily="34" charset="0"/>
                <a:cs typeface="Arial" panose="020B0604020202020204" pitchFamily="34" charset="0"/>
              </a:rPr>
              <a:t> can be included for deeper analysis.</a:t>
            </a:r>
          </a:p>
          <a:p>
            <a:pPr marL="0" indent="0">
              <a:buNone/>
            </a:pPr>
            <a:r>
              <a:rPr lang="en-US" sz="2300" b="1" dirty="0">
                <a:latin typeface="Arial" panose="020B0604020202020204" pitchFamily="34" charset="0"/>
                <a:cs typeface="Arial" panose="020B0604020202020204" pitchFamily="34" charset="0"/>
              </a:rPr>
              <a:t>6. Recommendation System</a:t>
            </a:r>
            <a:br>
              <a:rPr lang="en-US" sz="2300" dirty="0">
                <a:latin typeface="Arial" panose="020B0604020202020204" pitchFamily="34" charset="0"/>
                <a:cs typeface="Arial" panose="020B0604020202020204" pitchFamily="34" charset="0"/>
              </a:rPr>
            </a:br>
            <a:r>
              <a:rPr lang="en-US" sz="2300" dirty="0">
                <a:latin typeface="Arial" panose="020B0604020202020204" pitchFamily="34" charset="0"/>
                <a:cs typeface="Arial" panose="020B0604020202020204" pitchFamily="34" charset="0"/>
              </a:rPr>
              <a:t>An intelligent system can be developed to </a:t>
            </a:r>
            <a:r>
              <a:rPr lang="en-US" sz="2300" b="1" dirty="0">
                <a:latin typeface="Arial" panose="020B0604020202020204" pitchFamily="34" charset="0"/>
                <a:cs typeface="Arial" panose="020B0604020202020204" pitchFamily="34" charset="0"/>
              </a:rPr>
              <a:t>recommend restaurants based on user preferences, ratings, and cuisine choices</a:t>
            </a:r>
            <a:r>
              <a:rPr lang="en-US" sz="23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744199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lnSpcReduction="10000"/>
          </a:bodyPr>
          <a:lstStyle/>
          <a:p>
            <a:r>
              <a:rPr lang="en-IN" sz="2000" dirty="0">
                <a:latin typeface="Arial" panose="020B0604020202020204" pitchFamily="34" charset="0"/>
                <a:cs typeface="Arial" panose="020B0604020202020204" pitchFamily="34" charset="0"/>
              </a:rPr>
              <a:t>Zomato Restaurant Dataset used for data analysis and visualization.</a:t>
            </a:r>
          </a:p>
          <a:p>
            <a:r>
              <a:rPr lang="en-IN" sz="2000" dirty="0">
                <a:latin typeface="Arial" panose="020B0604020202020204" pitchFamily="34" charset="0"/>
                <a:cs typeface="Arial" panose="020B0604020202020204" pitchFamily="34" charset="0"/>
              </a:rPr>
              <a:t>Official documentation of </a:t>
            </a:r>
            <a:r>
              <a:rPr lang="en-IN" sz="2000" b="1" dirty="0">
                <a:latin typeface="Arial" panose="020B0604020202020204" pitchFamily="34" charset="0"/>
                <a:cs typeface="Arial" panose="020B0604020202020204" pitchFamily="34" charset="0"/>
              </a:rPr>
              <a:t>Microsoft Power BI</a:t>
            </a:r>
            <a:r>
              <a:rPr lang="en-IN" sz="2000" dirty="0">
                <a:latin typeface="Arial" panose="020B0604020202020204" pitchFamily="34" charset="0"/>
                <a:cs typeface="Arial" panose="020B0604020202020204" pitchFamily="34" charset="0"/>
              </a:rPr>
              <a:t> for dashboard creation and data visualization.</a:t>
            </a:r>
          </a:p>
          <a:p>
            <a:r>
              <a:rPr lang="en-IN" sz="2000" b="1" dirty="0">
                <a:latin typeface="Arial" panose="020B0604020202020204" pitchFamily="34" charset="0"/>
                <a:cs typeface="Arial" panose="020B0604020202020204" pitchFamily="34" charset="0"/>
              </a:rPr>
              <a:t>Microsoft Power Query</a:t>
            </a:r>
            <a:r>
              <a:rPr lang="en-IN" sz="2000" dirty="0">
                <a:latin typeface="Arial" panose="020B0604020202020204" pitchFamily="34" charset="0"/>
                <a:cs typeface="Arial" panose="020B0604020202020204" pitchFamily="34" charset="0"/>
              </a:rPr>
              <a:t> documentation for data cleaning and transformation. </a:t>
            </a:r>
            <a:r>
              <a:rPr lang="en-IN" sz="2000" b="1" dirty="0">
                <a:latin typeface="Arial" panose="020B0604020202020204" pitchFamily="34" charset="0"/>
                <a:cs typeface="Arial" panose="020B0604020202020204" pitchFamily="34" charset="0"/>
              </a:rPr>
              <a:t>DAX (Data Analysis Expressions)</a:t>
            </a:r>
            <a:r>
              <a:rPr lang="en-IN" sz="2000" dirty="0">
                <a:latin typeface="Arial" panose="020B0604020202020204" pitchFamily="34" charset="0"/>
                <a:cs typeface="Arial" panose="020B0604020202020204" pitchFamily="34" charset="0"/>
              </a:rPr>
              <a:t> documentation for creating calculated measures and columns.</a:t>
            </a:r>
          </a:p>
          <a:p>
            <a:r>
              <a:rPr lang="en-IN" sz="2000" dirty="0">
                <a:latin typeface="Arial" panose="020B0604020202020204" pitchFamily="34" charset="0"/>
                <a:cs typeface="Arial" panose="020B0604020202020204" pitchFamily="34" charset="0"/>
              </a:rPr>
              <a:t>Online learning resources and tutorials for Power BI dashboard development.</a:t>
            </a:r>
          </a:p>
          <a:p>
            <a:pPr marL="0" indent="0">
              <a:buNone/>
            </a:pPr>
            <a:endParaRPr lang="en-IN" sz="2000" dirty="0">
              <a:latin typeface="Arial" panose="020B0604020202020204" pitchFamily="34" charset="0"/>
              <a:cs typeface="Arial" panose="020B0604020202020204" pitchFamily="34" charset="0"/>
            </a:endParaRPr>
          </a:p>
          <a:p>
            <a:pPr marL="0" indent="0">
              <a:buNone/>
            </a:pPr>
            <a:r>
              <a:rPr lang="en-IN" sz="2000" dirty="0">
                <a:latin typeface="Arial" panose="020B0604020202020204" pitchFamily="34" charset="0"/>
                <a:cs typeface="Arial" panose="020B0604020202020204" pitchFamily="34" charset="0"/>
              </a:rPr>
              <a:t>Live Dashboard </a:t>
            </a:r>
            <a:r>
              <a:rPr lang="en-IN" sz="2000" dirty="0" err="1">
                <a:latin typeface="Arial" panose="020B0604020202020204" pitchFamily="34" charset="0"/>
                <a:cs typeface="Arial" panose="020B0604020202020204" pitchFamily="34" charset="0"/>
              </a:rPr>
              <a:t>link:</a:t>
            </a:r>
            <a:r>
              <a:rPr lang="en-IN" sz="2000" dirty="0" err="1">
                <a:latin typeface="Arial" panose="020B0604020202020204" pitchFamily="34" charset="0"/>
                <a:cs typeface="Arial" panose="020B0604020202020204" pitchFamily="34" charset="0"/>
                <a:hlinkClick r:id="rId2"/>
              </a:rPr>
              <a:t>https</a:t>
            </a:r>
            <a:r>
              <a:rPr lang="en-IN" sz="2000" dirty="0">
                <a:latin typeface="Arial" panose="020B0604020202020204" pitchFamily="34" charset="0"/>
                <a:cs typeface="Arial" panose="020B0604020202020204" pitchFamily="34" charset="0"/>
                <a:hlinkClick r:id="rId2"/>
              </a:rPr>
              <a:t>://app.powerbi.com/</a:t>
            </a:r>
            <a:r>
              <a:rPr lang="en-IN" sz="2000" dirty="0" err="1">
                <a:latin typeface="Arial" panose="020B0604020202020204" pitchFamily="34" charset="0"/>
                <a:cs typeface="Arial" panose="020B0604020202020204" pitchFamily="34" charset="0"/>
                <a:hlinkClick r:id="rId2"/>
              </a:rPr>
              <a:t>view?r</a:t>
            </a:r>
            <a:r>
              <a:rPr lang="en-IN" sz="2000" dirty="0">
                <a:latin typeface="Arial" panose="020B0604020202020204" pitchFamily="34" charset="0"/>
                <a:cs typeface="Arial" panose="020B0604020202020204" pitchFamily="34" charset="0"/>
                <a:hlinkClick r:id="rId2"/>
              </a:rPr>
              <a:t>=eyJrIjoiNDk3YjM4ZDItZjRhNC00ZWIxLTgyODYtZWNkMmMyOTdjNGNhIiwidCI6ImM2ZTU0OWIzLTVmNDUtNDAzMi1hYWU5LWQ0MjQ0ZGM1YjJjNCJ9</a:t>
            </a:r>
            <a:endParaRPr lang="en-IN" sz="2000" dirty="0">
              <a:latin typeface="Arial" panose="020B0604020202020204" pitchFamily="34" charset="0"/>
              <a:cs typeface="Arial" panose="020B0604020202020204" pitchFamily="34" charset="0"/>
            </a:endParaRPr>
          </a:p>
          <a:p>
            <a:pPr marL="0" indent="0">
              <a:buNone/>
            </a:pPr>
            <a:endParaRPr lang="en-IN" sz="2000" dirty="0">
              <a:latin typeface="Arial" panose="020B0604020202020204" pitchFamily="34" charset="0"/>
              <a:cs typeface="Arial" panose="020B0604020202020204" pitchFamily="34" charset="0"/>
            </a:endParaRPr>
          </a:p>
          <a:p>
            <a:pPr marL="0" indent="0">
              <a:buNone/>
            </a:pPr>
            <a:r>
              <a:rPr lang="en-IN" sz="2000" dirty="0" err="1">
                <a:latin typeface="Arial" panose="020B0604020202020204" pitchFamily="34" charset="0"/>
                <a:cs typeface="Arial" panose="020B0604020202020204" pitchFamily="34" charset="0"/>
              </a:rPr>
              <a:t>Github</a:t>
            </a:r>
            <a:r>
              <a:rPr lang="en-IN" sz="2000" dirty="0">
                <a:latin typeface="Arial" panose="020B0604020202020204" pitchFamily="34" charset="0"/>
                <a:cs typeface="Arial" panose="020B0604020202020204" pitchFamily="34" charset="0"/>
              </a:rPr>
              <a:t> </a:t>
            </a:r>
            <a:r>
              <a:rPr lang="en-IN" sz="2000" dirty="0" err="1">
                <a:latin typeface="Arial" panose="020B0604020202020204" pitchFamily="34" charset="0"/>
                <a:cs typeface="Arial" panose="020B0604020202020204" pitchFamily="34" charset="0"/>
              </a:rPr>
              <a:t>Link:</a:t>
            </a:r>
            <a:r>
              <a:rPr lang="en-IN" sz="2000" dirty="0" err="1">
                <a:latin typeface="Arial" panose="020B0604020202020204" pitchFamily="34" charset="0"/>
                <a:cs typeface="Arial" panose="020B0604020202020204" pitchFamily="34" charset="0"/>
                <a:hlinkClick r:id="rId3"/>
              </a:rPr>
              <a:t>https</a:t>
            </a:r>
            <a:r>
              <a:rPr lang="en-IN" sz="2000" dirty="0">
                <a:latin typeface="Arial" panose="020B0604020202020204" pitchFamily="34" charset="0"/>
                <a:cs typeface="Arial" panose="020B0604020202020204" pitchFamily="34" charset="0"/>
                <a:hlinkClick r:id="rId3"/>
              </a:rPr>
              <a:t>://github.com/khanaffan21/Power-BI-Zomato-Analysis</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1700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1716</Words>
  <Application>Microsoft Office PowerPoint</Application>
  <PresentationFormat>Widescreen</PresentationFormat>
  <Paragraphs>155</Paragraphs>
  <Slides>17</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PowerPoint Presentation</vt:lpstr>
      <vt:lpstr>System  Approach:</vt:lpstr>
      <vt:lpstr>PowerPoint Presentation</vt:lpstr>
      <vt:lpstr>Algorithm &amp; Deployment:</vt:lpstr>
      <vt:lpstr>PowerPoint Presentation</vt:lpstr>
      <vt:lpstr>Result:</vt:lpstr>
      <vt:lpstr>PowerPoint Presentation</vt:lpstr>
      <vt:lpstr>PowerPoint Presentation</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Khan Affan</cp:lastModifiedBy>
  <cp:revision>100</cp:revision>
  <dcterms:created xsi:type="dcterms:W3CDTF">2024-05-21T11:55:07Z</dcterms:created>
  <dcterms:modified xsi:type="dcterms:W3CDTF">2026-03-12T20:30:10Z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